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1"/>
  </p:notesMasterIdLst>
  <p:sldIdLst>
    <p:sldId id="256" r:id="rId2"/>
    <p:sldId id="281" r:id="rId3"/>
    <p:sldId id="282" r:id="rId4"/>
    <p:sldId id="283" r:id="rId5"/>
    <p:sldId id="260" r:id="rId6"/>
    <p:sldId id="264" r:id="rId7"/>
    <p:sldId id="284" r:id="rId8"/>
    <p:sldId id="261" r:id="rId9"/>
    <p:sldId id="277" r:id="rId10"/>
  </p:sldIdLst>
  <p:sldSz cx="12192000" cy="6858000"/>
  <p:notesSz cx="6858000" cy="9144000"/>
  <p:embeddedFontLst>
    <p:embeddedFont>
      <p:font typeface="Roboto Mono" panose="020B0604020202020204" charset="0"/>
      <p:regular r:id="rId12"/>
      <p:bold r:id="rId13"/>
      <p:italic r:id="rId14"/>
      <p:boldItalic r:id="rId15"/>
    </p:embeddedFont>
    <p:embeddedFont>
      <p:font typeface="Roboto" panose="020B0604020202020204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Abril Fatface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22A6"/>
    <a:srgbClr val="BA9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7564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3504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289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a073618e60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a073618e60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9015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a073618e60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a073618e60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2"/>
          <p:cNvGrpSpPr/>
          <p:nvPr/>
        </p:nvGrpSpPr>
        <p:grpSpPr>
          <a:xfrm>
            <a:off x="852246" y="3768247"/>
            <a:ext cx="3707096" cy="1936167"/>
            <a:chOff x="2176863" y="4518413"/>
            <a:chExt cx="5362500" cy="1301975"/>
          </a:xfrm>
        </p:grpSpPr>
        <p:sp>
          <p:nvSpPr>
            <p:cNvPr id="45" name="Google Shape;45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987983" y="3878297"/>
            <a:ext cx="635280" cy="147600"/>
            <a:chOff x="2147366" y="4139382"/>
            <a:chExt cx="635280" cy="147600"/>
          </a:xfrm>
        </p:grpSpPr>
        <p:sp>
          <p:nvSpPr>
            <p:cNvPr id="48" name="Google Shape;48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1618138" y="949638"/>
            <a:ext cx="8893200" cy="41094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2"/>
          <p:cNvGrpSpPr/>
          <p:nvPr/>
        </p:nvGrpSpPr>
        <p:grpSpPr>
          <a:xfrm>
            <a:off x="1771384" y="1059747"/>
            <a:ext cx="635280" cy="147600"/>
            <a:chOff x="2147366" y="4139382"/>
            <a:chExt cx="635280" cy="147600"/>
          </a:xfrm>
        </p:grpSpPr>
        <p:sp>
          <p:nvSpPr>
            <p:cNvPr id="53" name="Google Shape;53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5520051" y="4606376"/>
            <a:ext cx="5362500" cy="1301975"/>
            <a:chOff x="2176863" y="4518413"/>
            <a:chExt cx="5362500" cy="1301975"/>
          </a:xfrm>
        </p:grpSpPr>
        <p:sp>
          <p:nvSpPr>
            <p:cNvPr id="57" name="Google Shape;57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2"/>
          <p:cNvGrpSpPr/>
          <p:nvPr/>
        </p:nvGrpSpPr>
        <p:grpSpPr>
          <a:xfrm>
            <a:off x="5655734" y="4716497"/>
            <a:ext cx="635280" cy="147600"/>
            <a:chOff x="2147366" y="4139382"/>
            <a:chExt cx="635280" cy="147600"/>
          </a:xfrm>
        </p:grpSpPr>
        <p:sp>
          <p:nvSpPr>
            <p:cNvPr id="60" name="Google Shape;60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2176875" y="1137800"/>
            <a:ext cx="6796800" cy="322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ubTitle" idx="1"/>
          </p:nvPr>
        </p:nvSpPr>
        <p:spPr>
          <a:xfrm>
            <a:off x="5733525" y="4974200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8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6387975" y="1429625"/>
            <a:ext cx="4809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7"/>
          <p:cNvGrpSpPr/>
          <p:nvPr/>
        </p:nvGrpSpPr>
        <p:grpSpPr>
          <a:xfrm>
            <a:off x="6541221" y="1539734"/>
            <a:ext cx="635280" cy="147600"/>
            <a:chOff x="2147366" y="4139382"/>
            <a:chExt cx="635280" cy="147600"/>
          </a:xfrm>
        </p:grpSpPr>
        <p:sp>
          <p:nvSpPr>
            <p:cNvPr id="142" name="Google Shape;142;p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7"/>
          <p:cNvSpPr/>
          <p:nvPr/>
        </p:nvSpPr>
        <p:spPr>
          <a:xfrm>
            <a:off x="994425" y="1429625"/>
            <a:ext cx="4809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7"/>
          <p:cNvGrpSpPr/>
          <p:nvPr/>
        </p:nvGrpSpPr>
        <p:grpSpPr>
          <a:xfrm>
            <a:off x="1147671" y="1539734"/>
            <a:ext cx="635280" cy="147600"/>
            <a:chOff x="2147366" y="4139382"/>
            <a:chExt cx="635280" cy="147600"/>
          </a:xfrm>
        </p:grpSpPr>
        <p:sp>
          <p:nvSpPr>
            <p:cNvPr id="147" name="Google Shape;147;p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994425" y="361575"/>
            <a:ext cx="10110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1315075" y="2268525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2"/>
          </p:nvPr>
        </p:nvSpPr>
        <p:spPr>
          <a:xfrm>
            <a:off x="6679275" y="2255000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790075" y="890150"/>
            <a:ext cx="99537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8"/>
          <p:cNvGrpSpPr/>
          <p:nvPr/>
        </p:nvGrpSpPr>
        <p:grpSpPr>
          <a:xfrm>
            <a:off x="943321" y="1000259"/>
            <a:ext cx="635280" cy="147600"/>
            <a:chOff x="2147366" y="4139382"/>
            <a:chExt cx="635280" cy="147600"/>
          </a:xfrm>
        </p:grpSpPr>
        <p:sp>
          <p:nvSpPr>
            <p:cNvPr id="156" name="Google Shape;156;p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8"/>
          <p:cNvSpPr txBox="1">
            <a:spLocks noGrp="1"/>
          </p:cNvSpPr>
          <p:nvPr>
            <p:ph type="subTitle" idx="1"/>
          </p:nvPr>
        </p:nvSpPr>
        <p:spPr>
          <a:xfrm>
            <a:off x="920475" y="1895300"/>
            <a:ext cx="77940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title"/>
          </p:nvPr>
        </p:nvSpPr>
        <p:spPr>
          <a:xfrm>
            <a:off x="920475" y="845500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61" name="Google Shape;161;p8"/>
          <p:cNvSpPr txBox="1">
            <a:spLocks noGrp="1"/>
          </p:cNvSpPr>
          <p:nvPr>
            <p:ph type="body" idx="2"/>
          </p:nvPr>
        </p:nvSpPr>
        <p:spPr>
          <a:xfrm>
            <a:off x="920475" y="2555475"/>
            <a:ext cx="7794000" cy="3436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>
  <p:cSld name="CUSTOM_7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629700" y="604225"/>
            <a:ext cx="10932600" cy="53514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10"/>
          <p:cNvGrpSpPr/>
          <p:nvPr/>
        </p:nvGrpSpPr>
        <p:grpSpPr>
          <a:xfrm>
            <a:off x="819246" y="714334"/>
            <a:ext cx="635280" cy="147600"/>
            <a:chOff x="2147366" y="4139382"/>
            <a:chExt cx="635280" cy="147600"/>
          </a:xfrm>
        </p:grpSpPr>
        <p:sp>
          <p:nvSpPr>
            <p:cNvPr id="180" name="Google Shape;180;p1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10"/>
          <p:cNvSpPr txBox="1">
            <a:spLocks noGrp="1"/>
          </p:cNvSpPr>
          <p:nvPr>
            <p:ph type="title"/>
          </p:nvPr>
        </p:nvSpPr>
        <p:spPr>
          <a:xfrm>
            <a:off x="781800" y="919825"/>
            <a:ext cx="10628400" cy="4720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4 Map">
  <p:cSld name="CUSTOM_13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"/>
          <p:cNvSpPr/>
          <p:nvPr/>
        </p:nvSpPr>
        <p:spPr>
          <a:xfrm>
            <a:off x="357875" y="339900"/>
            <a:ext cx="10744500" cy="5971800"/>
          </a:xfrm>
          <a:prstGeom prst="roundRect">
            <a:avLst>
              <a:gd name="adj" fmla="val 1957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" name="Google Shape;277;p16"/>
          <p:cNvGrpSpPr/>
          <p:nvPr/>
        </p:nvGrpSpPr>
        <p:grpSpPr>
          <a:xfrm>
            <a:off x="8217599" y="1674644"/>
            <a:ext cx="3629545" cy="4971542"/>
            <a:chOff x="5002050" y="1555325"/>
            <a:chExt cx="2081400" cy="1649100"/>
          </a:xfrm>
        </p:grpSpPr>
        <p:sp>
          <p:nvSpPr>
            <p:cNvPr id="278" name="Google Shape;278;p16"/>
            <p:cNvSpPr/>
            <p:nvPr/>
          </p:nvSpPr>
          <p:spPr>
            <a:xfrm>
              <a:off x="5002050" y="1555325"/>
              <a:ext cx="2081400" cy="164910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5002050" y="1555325"/>
              <a:ext cx="2081400" cy="1649100"/>
            </a:xfrm>
            <a:prstGeom prst="roundRect">
              <a:avLst>
                <a:gd name="adj" fmla="val 3539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6"/>
          <p:cNvGrpSpPr/>
          <p:nvPr/>
        </p:nvGrpSpPr>
        <p:grpSpPr>
          <a:xfrm>
            <a:off x="455671" y="445784"/>
            <a:ext cx="635280" cy="147600"/>
            <a:chOff x="2147366" y="4139382"/>
            <a:chExt cx="635280" cy="147600"/>
          </a:xfrm>
        </p:grpSpPr>
        <p:sp>
          <p:nvSpPr>
            <p:cNvPr id="281" name="Google Shape;281;p16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6"/>
          <p:cNvGrpSpPr/>
          <p:nvPr/>
        </p:nvGrpSpPr>
        <p:grpSpPr>
          <a:xfrm>
            <a:off x="8333246" y="1763834"/>
            <a:ext cx="635280" cy="147600"/>
            <a:chOff x="2147366" y="4139382"/>
            <a:chExt cx="635280" cy="147600"/>
          </a:xfrm>
        </p:grpSpPr>
        <p:sp>
          <p:nvSpPr>
            <p:cNvPr id="285" name="Google Shape;285;p16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16"/>
          <p:cNvSpPr txBox="1">
            <a:spLocks noGrp="1"/>
          </p:cNvSpPr>
          <p:nvPr>
            <p:ph type="subTitle" idx="1"/>
          </p:nvPr>
        </p:nvSpPr>
        <p:spPr>
          <a:xfrm>
            <a:off x="8454700" y="2110975"/>
            <a:ext cx="3231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accent1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289" name="Google Shape;289;p16"/>
          <p:cNvSpPr txBox="1">
            <a:spLocks noGrp="1"/>
          </p:cNvSpPr>
          <p:nvPr>
            <p:ph type="subTitle" idx="2"/>
          </p:nvPr>
        </p:nvSpPr>
        <p:spPr>
          <a:xfrm>
            <a:off x="8454700" y="4331357"/>
            <a:ext cx="3231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accent3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290" name="Google Shape;290;p16"/>
          <p:cNvSpPr txBox="1">
            <a:spLocks noGrp="1"/>
          </p:cNvSpPr>
          <p:nvPr>
            <p:ph type="title"/>
          </p:nvPr>
        </p:nvSpPr>
        <p:spPr>
          <a:xfrm>
            <a:off x="568000" y="593375"/>
            <a:ext cx="10352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91" name="Google Shape;291;p16"/>
          <p:cNvSpPr txBox="1">
            <a:spLocks noGrp="1"/>
          </p:cNvSpPr>
          <p:nvPr>
            <p:ph type="body" idx="3"/>
          </p:nvPr>
        </p:nvSpPr>
        <p:spPr>
          <a:xfrm>
            <a:off x="8454700" y="2546975"/>
            <a:ext cx="32310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292" name="Google Shape;292;p16"/>
          <p:cNvSpPr txBox="1">
            <a:spLocks noGrp="1"/>
          </p:cNvSpPr>
          <p:nvPr>
            <p:ph type="body" idx="4"/>
          </p:nvPr>
        </p:nvSpPr>
        <p:spPr>
          <a:xfrm>
            <a:off x="8454700" y="4735300"/>
            <a:ext cx="32310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/>
          <p:nvPr/>
        </p:nvSpPr>
        <p:spPr>
          <a:xfrm>
            <a:off x="1136725" y="1089750"/>
            <a:ext cx="6930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p20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353" name="Google Shape;353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p20"/>
          <p:cNvGrpSpPr/>
          <p:nvPr/>
        </p:nvGrpSpPr>
        <p:grpSpPr>
          <a:xfrm>
            <a:off x="7242946" y="2331434"/>
            <a:ext cx="635280" cy="147600"/>
            <a:chOff x="2147366" y="4139382"/>
            <a:chExt cx="635280" cy="147600"/>
          </a:xfrm>
        </p:grpSpPr>
        <p:sp>
          <p:nvSpPr>
            <p:cNvPr id="359" name="Google Shape;359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0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63" name="Google Shape;363;p20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body" idx="2"/>
          </p:nvPr>
        </p:nvSpPr>
        <p:spPr>
          <a:xfrm>
            <a:off x="7372700" y="3014400"/>
            <a:ext cx="3167700" cy="106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" name="Google Shape;10;p1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6" r:id="rId4"/>
    <p:sldLayoutId id="2147483662" r:id="rId5"/>
    <p:sldLayoutId id="2147483666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>
            <a:spLocks noGrp="1"/>
          </p:cNvSpPr>
          <p:nvPr>
            <p:ph type="title"/>
          </p:nvPr>
        </p:nvSpPr>
        <p:spPr>
          <a:xfrm>
            <a:off x="1938528" y="1607299"/>
            <a:ext cx="8156447" cy="2902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sz="5000" dirty="0"/>
              <a:t>Development of </a:t>
            </a:r>
            <a:r>
              <a:rPr lang="en-US" sz="5000" dirty="0" smtClean="0"/>
              <a:t>a</a:t>
            </a:r>
            <a:r>
              <a:rPr lang="ru-RU" sz="5000" dirty="0" smtClean="0"/>
              <a:t> </a:t>
            </a:r>
            <a:br>
              <a:rPr lang="ru-RU" sz="5000" dirty="0" smtClean="0"/>
            </a:br>
            <a:r>
              <a:rPr lang="en-US" sz="4600" dirty="0" smtClean="0">
                <a:solidFill>
                  <a:schemeClr val="accent1"/>
                </a:solidFill>
              </a:rPr>
              <a:t>Friction Tester</a:t>
            </a:r>
            <a:r>
              <a:rPr lang="en" dirty="0" smtClean="0">
                <a:solidFill>
                  <a:schemeClr val="accent1"/>
                </a:solidFill>
              </a:rPr>
              <a:t> </a:t>
            </a:r>
            <a:r>
              <a:rPr lang="ru-RU" dirty="0" smtClean="0">
                <a:solidFill>
                  <a:schemeClr val="accent1"/>
                </a:solidFill>
              </a:rPr>
              <a:t/>
            </a:r>
            <a:br>
              <a:rPr lang="ru-RU" dirty="0" smtClean="0">
                <a:solidFill>
                  <a:schemeClr val="accent1"/>
                </a:solidFill>
              </a:rPr>
            </a:br>
            <a:r>
              <a:rPr lang="en-US" sz="5000" dirty="0"/>
              <a:t>for research of </a:t>
            </a:r>
            <a:r>
              <a:rPr lang="en-US" sz="5000" dirty="0" err="1"/>
              <a:t>tribological</a:t>
            </a:r>
            <a:r>
              <a:rPr lang="en-US" sz="5000" dirty="0"/>
              <a:t> properties</a:t>
            </a:r>
            <a:endParaRPr sz="5000" dirty="0"/>
          </a:p>
        </p:txBody>
      </p:sp>
      <p:sp>
        <p:nvSpPr>
          <p:cNvPr id="381" name="Google Shape;381;p22"/>
          <p:cNvSpPr txBox="1">
            <a:spLocks noGrp="1"/>
          </p:cNvSpPr>
          <p:nvPr>
            <p:ph type="subTitle" idx="1"/>
          </p:nvPr>
        </p:nvSpPr>
        <p:spPr>
          <a:xfrm>
            <a:off x="5733524" y="4974200"/>
            <a:ext cx="5147835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" dirty="0">
                <a:solidFill>
                  <a:schemeClr val="accent1"/>
                </a:solidFill>
              </a:rPr>
              <a:t>&lt;p&gt;</a:t>
            </a:r>
            <a:r>
              <a:rPr lang="en" dirty="0"/>
              <a:t> </a:t>
            </a:r>
            <a:r>
              <a:rPr lang="en-US" dirty="0"/>
              <a:t>I am a specialist presenter..., so I must be all-powerful</a:t>
            </a:r>
            <a:r>
              <a:rPr lang="en-US" dirty="0" smtClean="0"/>
              <a:t>.</a:t>
            </a:r>
            <a:r>
              <a:rPr lang="ru-RU" dirty="0"/>
              <a:t>	</a:t>
            </a:r>
            <a:r>
              <a:rPr lang="en" dirty="0" smtClean="0">
                <a:solidFill>
                  <a:schemeClr val="accent1"/>
                </a:solidFill>
              </a:rPr>
              <a:t>&lt;/</a:t>
            </a:r>
            <a:r>
              <a:rPr lang="en" dirty="0">
                <a:solidFill>
                  <a:schemeClr val="accent1"/>
                </a:solidFill>
              </a:rPr>
              <a:t>p&gt;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>
            <a:spLocks noGrp="1"/>
          </p:cNvSpPr>
          <p:nvPr>
            <p:ph type="title"/>
          </p:nvPr>
        </p:nvSpPr>
        <p:spPr>
          <a:xfrm>
            <a:off x="1201000" y="1255500"/>
            <a:ext cx="848526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Why it's </a:t>
            </a:r>
            <a:r>
              <a:rPr lang="en-US" sz="4400" dirty="0" smtClean="0">
                <a:solidFill>
                  <a:schemeClr val="accent3"/>
                </a:solidFill>
              </a:rPr>
              <a:t>Important</a:t>
            </a:r>
            <a:r>
              <a:rPr lang="en" sz="4400" dirty="0" smtClean="0">
                <a:solidFill>
                  <a:schemeClr val="accent3"/>
                </a:solidFill>
              </a:rPr>
              <a:t>?</a:t>
            </a:r>
            <a:endParaRPr sz="6000" dirty="0">
              <a:solidFill>
                <a:schemeClr val="accent3"/>
              </a:solidFill>
            </a:endParaRPr>
          </a:p>
        </p:txBody>
      </p:sp>
      <p:sp>
        <p:nvSpPr>
          <p:cNvPr id="418" name="Google Shape;418;p26"/>
          <p:cNvSpPr txBox="1">
            <a:spLocks noGrp="1"/>
          </p:cNvSpPr>
          <p:nvPr>
            <p:ph type="subTitle" idx="1"/>
          </p:nvPr>
        </p:nvSpPr>
        <p:spPr>
          <a:xfrm>
            <a:off x="844384" y="2158996"/>
            <a:ext cx="9991256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" b="0" dirty="0">
                <a:solidFill>
                  <a:schemeClr val="accent3"/>
                </a:solidFill>
              </a:rPr>
              <a:t>&lt;p&gt;</a:t>
            </a:r>
            <a:r>
              <a:rPr lang="en" b="0" dirty="0"/>
              <a:t> </a:t>
            </a:r>
            <a:r>
              <a:rPr lang="en-US" b="0" dirty="0"/>
              <a:t>Friction and wear are the main enemies of machinery </a:t>
            </a:r>
            <a:r>
              <a:rPr lang="en" b="0" dirty="0" smtClean="0">
                <a:solidFill>
                  <a:schemeClr val="accent3"/>
                </a:solidFill>
              </a:rPr>
              <a:t>&lt;/</a:t>
            </a:r>
            <a:r>
              <a:rPr lang="en" b="0" dirty="0">
                <a:solidFill>
                  <a:schemeClr val="accent3"/>
                </a:solidFill>
              </a:rPr>
              <a:t>p&gt;</a:t>
            </a:r>
            <a:endParaRPr b="0" dirty="0">
              <a:solidFill>
                <a:schemeClr val="accent3"/>
              </a:solidFill>
            </a:endParaRPr>
          </a:p>
        </p:txBody>
      </p:sp>
      <p:pic>
        <p:nvPicPr>
          <p:cNvPr id="1026" name="Picture 2" descr="Как уменьшить гидроабразивный износ шламовых и грунтовых насосов |  Добывающая промышленность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509" y="2876896"/>
            <a:ext cx="4611955" cy="2082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Износ (техника) — Википеди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892" y="2865575"/>
            <a:ext cx="3712599" cy="2093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26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>
            <a:spLocks noGrp="1"/>
          </p:cNvSpPr>
          <p:nvPr>
            <p:ph type="title"/>
          </p:nvPr>
        </p:nvSpPr>
        <p:spPr>
          <a:xfrm>
            <a:off x="1201000" y="1255500"/>
            <a:ext cx="848526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Purpose of </a:t>
            </a:r>
            <a:r>
              <a:rPr lang="en-US" sz="4400" dirty="0" smtClean="0">
                <a:solidFill>
                  <a:schemeClr val="accent3"/>
                </a:solidFill>
              </a:rPr>
              <a:t>Work</a:t>
            </a:r>
            <a:r>
              <a:rPr lang="en" sz="4400" dirty="0" smtClean="0">
                <a:solidFill>
                  <a:schemeClr val="accent3"/>
                </a:solidFill>
              </a:rPr>
              <a:t>?</a:t>
            </a:r>
            <a:endParaRPr sz="6000" dirty="0">
              <a:solidFill>
                <a:schemeClr val="accent3"/>
              </a:solidFill>
            </a:endParaRPr>
          </a:p>
        </p:txBody>
      </p:sp>
      <p:sp>
        <p:nvSpPr>
          <p:cNvPr id="418" name="Google Shape;418;p26"/>
          <p:cNvSpPr txBox="1">
            <a:spLocks noGrp="1"/>
          </p:cNvSpPr>
          <p:nvPr>
            <p:ph type="subTitle" idx="1"/>
          </p:nvPr>
        </p:nvSpPr>
        <p:spPr>
          <a:xfrm>
            <a:off x="844384" y="2085844"/>
            <a:ext cx="981752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" b="0" dirty="0">
                <a:solidFill>
                  <a:schemeClr val="accent3"/>
                </a:solidFill>
              </a:rPr>
              <a:t>&lt;p&gt;</a:t>
            </a:r>
            <a:r>
              <a:rPr lang="en" b="0" dirty="0"/>
              <a:t> </a:t>
            </a:r>
            <a:r>
              <a:rPr lang="en-US" b="0" dirty="0"/>
              <a:t>Create a device that allows you to study how materials wear through friction, in real time </a:t>
            </a:r>
            <a:r>
              <a:rPr lang="en" b="0" dirty="0" smtClean="0">
                <a:solidFill>
                  <a:schemeClr val="accent3"/>
                </a:solidFill>
              </a:rPr>
              <a:t>&lt;/</a:t>
            </a:r>
            <a:r>
              <a:rPr lang="en" b="0" dirty="0">
                <a:solidFill>
                  <a:schemeClr val="accent3"/>
                </a:solidFill>
              </a:rPr>
              <a:t>p&gt;</a:t>
            </a:r>
            <a:endParaRPr b="0" dirty="0">
              <a:solidFill>
                <a:schemeClr val="accent3"/>
              </a:solidFill>
            </a:endParaRPr>
          </a:p>
        </p:txBody>
      </p:sp>
      <p:pic>
        <p:nvPicPr>
          <p:cNvPr id="2050" name="Picture 2" descr="Действие силы трения: от полезного действия до возникающих проблем и  способах их решения - Science Deba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638" y="2968337"/>
            <a:ext cx="3578506" cy="244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Структура стекла под микроскопом - Zefirka.club фото и картинки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55"/>
          <a:stretch/>
        </p:blipFill>
        <p:spPr bwMode="auto">
          <a:xfrm>
            <a:off x="6693408" y="2968337"/>
            <a:ext cx="2487168" cy="2449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78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>
            <a:spLocks noGrp="1"/>
          </p:cNvSpPr>
          <p:nvPr>
            <p:ph type="title"/>
          </p:nvPr>
        </p:nvSpPr>
        <p:spPr>
          <a:xfrm>
            <a:off x="1201000" y="1255500"/>
            <a:ext cx="848526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 How does it </a:t>
            </a:r>
            <a:r>
              <a:rPr lang="en-US" sz="4400" dirty="0">
                <a:solidFill>
                  <a:schemeClr val="accent3"/>
                </a:solidFill>
              </a:rPr>
              <a:t>W</a:t>
            </a:r>
            <a:r>
              <a:rPr lang="en-US" sz="4400" dirty="0" smtClean="0">
                <a:solidFill>
                  <a:schemeClr val="accent3"/>
                </a:solidFill>
              </a:rPr>
              <a:t>ork?</a:t>
            </a:r>
            <a:endParaRPr sz="6000" dirty="0">
              <a:solidFill>
                <a:schemeClr val="accent3"/>
              </a:solidFill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7058291" y="1895300"/>
            <a:ext cx="3312368" cy="3284993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>
          <a:xfrm>
            <a:off x="1201000" y="2432305"/>
            <a:ext cx="5136452" cy="243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7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>
            <a:spLocks noGrp="1"/>
          </p:cNvSpPr>
          <p:nvPr>
            <p:ph type="title"/>
          </p:nvPr>
        </p:nvSpPr>
        <p:spPr>
          <a:xfrm>
            <a:off x="1201000" y="1255500"/>
            <a:ext cx="848526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What's </a:t>
            </a:r>
            <a:r>
              <a:rPr lang="en-US" sz="4400" dirty="0">
                <a:solidFill>
                  <a:schemeClr val="accent3"/>
                </a:solidFill>
              </a:rPr>
              <a:t>N</a:t>
            </a:r>
            <a:r>
              <a:rPr lang="en-US" sz="4400" dirty="0" smtClean="0">
                <a:solidFill>
                  <a:schemeClr val="accent3"/>
                </a:solidFill>
              </a:rPr>
              <a:t>ew?</a:t>
            </a:r>
            <a:endParaRPr sz="6000" dirty="0">
              <a:solidFill>
                <a:schemeClr val="accent3"/>
              </a:solidFill>
            </a:endParaRPr>
          </a:p>
        </p:txBody>
      </p:sp>
      <p:sp>
        <p:nvSpPr>
          <p:cNvPr id="418" name="Google Shape;418;p26"/>
          <p:cNvSpPr txBox="1">
            <a:spLocks noGrp="1"/>
          </p:cNvSpPr>
          <p:nvPr>
            <p:ph type="subTitle" idx="1"/>
          </p:nvPr>
        </p:nvSpPr>
        <p:spPr>
          <a:xfrm>
            <a:off x="1201000" y="2133286"/>
            <a:ext cx="9342032" cy="218268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ru-RU" b="0" dirty="0">
                <a:solidFill>
                  <a:schemeClr val="accent3"/>
                </a:solidFill>
              </a:rPr>
              <a:t>&lt;p&gt;</a:t>
            </a:r>
            <a:r>
              <a:rPr lang="ru-RU" b="0" dirty="0"/>
              <a:t> </a:t>
            </a:r>
            <a:r>
              <a:rPr lang="en-US" b="0" dirty="0" smtClean="0"/>
              <a:t>Added </a:t>
            </a:r>
            <a:r>
              <a:rPr lang="en-US" b="0" dirty="0"/>
              <a:t>the ability to observe changes in material structure directly during friction</a:t>
            </a:r>
            <a:r>
              <a:rPr lang="ru-RU" b="0" dirty="0" smtClean="0">
                <a:solidFill>
                  <a:schemeClr val="accent3"/>
                </a:solidFill>
              </a:rPr>
              <a:t>&lt;/</a:t>
            </a:r>
            <a:r>
              <a:rPr lang="ru-RU" b="0" dirty="0">
                <a:solidFill>
                  <a:schemeClr val="accent3"/>
                </a:solidFill>
              </a:rPr>
              <a:t>p</a:t>
            </a:r>
            <a:r>
              <a:rPr lang="ru-RU" b="0" dirty="0" smtClean="0">
                <a:solidFill>
                  <a:schemeClr val="accent3"/>
                </a:solidFill>
              </a:rPr>
              <a:t>&gt;</a:t>
            </a:r>
            <a:endParaRPr lang="en-US" b="0" dirty="0" smtClean="0">
              <a:solidFill>
                <a:schemeClr val="accent3"/>
              </a:solidFill>
            </a:endParaRPr>
          </a:p>
          <a:p>
            <a:pPr marL="0" indent="0">
              <a:spcAft>
                <a:spcPts val="2100"/>
              </a:spcAft>
            </a:pPr>
            <a:r>
              <a:rPr lang="ru-RU" b="0" dirty="0">
                <a:solidFill>
                  <a:schemeClr val="accent3"/>
                </a:solidFill>
              </a:rPr>
              <a:t>&lt;p&gt;</a:t>
            </a:r>
            <a:r>
              <a:rPr lang="ru-RU" b="0" dirty="0"/>
              <a:t> </a:t>
            </a:r>
            <a:r>
              <a:rPr lang="en-US" b="0" dirty="0" smtClean="0"/>
              <a:t>Synchrotron </a:t>
            </a:r>
            <a:r>
              <a:rPr lang="en-US" b="0" dirty="0"/>
              <a:t>radiation </a:t>
            </a:r>
            <a:r>
              <a:rPr lang="en-US" b="0" dirty="0" err="1"/>
              <a:t>utilisation</a:t>
            </a:r>
            <a:r>
              <a:rPr lang="ru-RU" b="0" dirty="0" smtClean="0">
                <a:solidFill>
                  <a:schemeClr val="accent3"/>
                </a:solidFill>
              </a:rPr>
              <a:t>&lt;/</a:t>
            </a:r>
            <a:r>
              <a:rPr lang="ru-RU" b="0" dirty="0">
                <a:solidFill>
                  <a:schemeClr val="accent3"/>
                </a:solidFill>
              </a:rPr>
              <a:t>p</a:t>
            </a:r>
            <a:r>
              <a:rPr lang="ru-RU" b="0" dirty="0" smtClean="0">
                <a:solidFill>
                  <a:schemeClr val="accent3"/>
                </a:solidFill>
              </a:rPr>
              <a:t>&gt;</a:t>
            </a:r>
            <a:endParaRPr lang="en-US" b="0" dirty="0">
              <a:solidFill>
                <a:schemeClr val="accent3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920" y="3949316"/>
            <a:ext cx="3627419" cy="148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"/>
          <p:cNvSpPr txBox="1">
            <a:spLocks noGrp="1"/>
          </p:cNvSpPr>
          <p:nvPr>
            <p:ph type="title"/>
          </p:nvPr>
        </p:nvSpPr>
        <p:spPr>
          <a:xfrm>
            <a:off x="786809" y="919825"/>
            <a:ext cx="10623366" cy="4720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ru-RU" dirty="0" smtClean="0"/>
              <a:t/>
            </a:r>
            <a:br>
              <a:rPr lang="ru-RU" dirty="0" smtClean="0"/>
            </a:br>
            <a:r>
              <a:rPr lang="en-US" sz="12000" dirty="0" smtClean="0">
                <a:solidFill>
                  <a:schemeClr val="accent1"/>
                </a:solidFill>
              </a:rPr>
              <a:t>RESULTS</a:t>
            </a:r>
            <a:endParaRPr sz="7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9"/>
          <p:cNvSpPr txBox="1">
            <a:spLocks noGrp="1"/>
          </p:cNvSpPr>
          <p:nvPr>
            <p:ph type="title"/>
          </p:nvPr>
        </p:nvSpPr>
        <p:spPr>
          <a:xfrm>
            <a:off x="568000" y="333405"/>
            <a:ext cx="10352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What did you </a:t>
            </a:r>
            <a:r>
              <a:rPr lang="en-US" sz="6000" dirty="0">
                <a:solidFill>
                  <a:schemeClr val="accent2"/>
                </a:solidFill>
              </a:rPr>
              <a:t>G</a:t>
            </a:r>
            <a:r>
              <a:rPr lang="en-US" sz="6000" dirty="0" smtClean="0">
                <a:solidFill>
                  <a:schemeClr val="accent2"/>
                </a:solidFill>
              </a:rPr>
              <a:t>et</a:t>
            </a:r>
            <a:r>
              <a:rPr lang="en-US" sz="6000" dirty="0">
                <a:solidFill>
                  <a:schemeClr val="accent2"/>
                </a:solidFill>
              </a:rPr>
              <a:t>? 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571" name="Google Shape;571;p39"/>
          <p:cNvSpPr txBox="1">
            <a:spLocks noGrp="1"/>
          </p:cNvSpPr>
          <p:nvPr>
            <p:ph type="subTitle" idx="1"/>
          </p:nvPr>
        </p:nvSpPr>
        <p:spPr>
          <a:xfrm>
            <a:off x="8454700" y="3770661"/>
            <a:ext cx="3402937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-US" dirty="0"/>
              <a:t>Established:</a:t>
            </a:r>
            <a:endParaRPr dirty="0"/>
          </a:p>
        </p:txBody>
      </p:sp>
      <p:sp>
        <p:nvSpPr>
          <p:cNvPr id="785" name="Google Shape;785;p39"/>
          <p:cNvSpPr txBox="1">
            <a:spLocks noGrp="1"/>
          </p:cNvSpPr>
          <p:nvPr>
            <p:ph type="body" idx="3"/>
          </p:nvPr>
        </p:nvSpPr>
        <p:spPr>
          <a:xfrm>
            <a:off x="8454700" y="4436385"/>
            <a:ext cx="3231000" cy="17843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lvl="0" indent="-285750">
              <a:buFontTx/>
              <a:buChar char="-"/>
            </a:pPr>
            <a:r>
              <a:rPr lang="en-US" dirty="0"/>
              <a:t>Sensor data acquisition </a:t>
            </a:r>
            <a:r>
              <a:rPr lang="en-US" dirty="0" smtClean="0"/>
              <a:t>board</a:t>
            </a:r>
          </a:p>
          <a:p>
            <a:pPr marL="285750" lvl="0" indent="-285750">
              <a:buFontTx/>
              <a:buChar char="-"/>
            </a:pPr>
            <a:r>
              <a:rPr lang="en-US" dirty="0"/>
              <a:t>Control board for servo </a:t>
            </a:r>
            <a:r>
              <a:rPr lang="en-US" dirty="0" smtClean="0"/>
              <a:t>drive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Analysis software</a:t>
            </a:r>
          </a:p>
          <a:p>
            <a:pPr marL="285750" lvl="0" indent="-285750">
              <a:buFontTx/>
              <a:buChar char="-"/>
            </a:pPr>
            <a:r>
              <a:rPr lang="en-US" dirty="0"/>
              <a:t>Friction </a:t>
            </a:r>
            <a:r>
              <a:rPr lang="en-US" dirty="0" smtClean="0"/>
              <a:t>Tester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192542" y="2174272"/>
            <a:ext cx="1159292" cy="1692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0" indent="0"/>
            <a:r>
              <a:rPr lang="en-US" sz="3200" dirty="0" smtClean="0">
                <a:solidFill>
                  <a:schemeClr val="accent3"/>
                </a:solidFill>
              </a:rPr>
              <a:t>   </a:t>
            </a:r>
            <a:r>
              <a:rPr lang="en-US" sz="2400" dirty="0" smtClean="0">
                <a:solidFill>
                  <a:schemeClr val="accent3"/>
                </a:solidFill>
              </a:rPr>
              <a:t>___</a:t>
            </a:r>
          </a:p>
          <a:p>
            <a:pPr marL="0" lvl="0" indent="0"/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ru-RU" sz="2400" dirty="0">
                <a:solidFill>
                  <a:schemeClr val="accent3"/>
                </a:solidFill>
              </a:rPr>
              <a:t> </a:t>
            </a:r>
            <a:r>
              <a:rPr lang="en-US" sz="2400" dirty="0" smtClean="0">
                <a:solidFill>
                  <a:schemeClr val="accent3"/>
                </a:solidFill>
              </a:rPr>
              <a:t> </a:t>
            </a:r>
            <a:r>
              <a:rPr lang="ru-RU" sz="2400" dirty="0" smtClean="0">
                <a:solidFill>
                  <a:schemeClr val="accent3"/>
                </a:solidFill>
              </a:rPr>
              <a:t>(</a:t>
            </a:r>
            <a:r>
              <a:rPr lang="ru-RU" sz="2400" dirty="0">
                <a:solidFill>
                  <a:schemeClr val="accent3"/>
                </a:solidFill>
              </a:rPr>
              <a:t>0_о)</a:t>
            </a:r>
          </a:p>
          <a:p>
            <a:pPr marL="0" lvl="0" indent="0"/>
            <a:r>
              <a:rPr lang="en-US" sz="2400" dirty="0" smtClean="0">
                <a:solidFill>
                  <a:schemeClr val="accent3"/>
                </a:solidFill>
              </a:rPr>
              <a:t>    &lt;|&gt;</a:t>
            </a:r>
          </a:p>
          <a:p>
            <a:pPr marL="0" lvl="0" indent="0"/>
            <a:r>
              <a:rPr lang="en-US" sz="2400" dirty="0" smtClean="0">
                <a:solidFill>
                  <a:schemeClr val="accent3"/>
                </a:solidFill>
              </a:rPr>
              <a:t>     / \</a:t>
            </a:r>
            <a:endParaRPr lang="ru-RU" sz="2400" dirty="0">
              <a:solidFill>
                <a:schemeClr val="accent3"/>
              </a:solidFill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00" t="3800" r="33200" b="66800"/>
          <a:stretch/>
        </p:blipFill>
        <p:spPr>
          <a:xfrm>
            <a:off x="502344" y="3791954"/>
            <a:ext cx="3149276" cy="2361957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44" y="1278839"/>
            <a:ext cx="3108131" cy="2331098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091" b="29648"/>
          <a:stretch/>
        </p:blipFill>
        <p:spPr>
          <a:xfrm>
            <a:off x="3989586" y="1278839"/>
            <a:ext cx="3498376" cy="1292498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9172" y="2714822"/>
            <a:ext cx="3538790" cy="1211711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9586" y="4074112"/>
            <a:ext cx="3892691" cy="20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7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"/>
          <p:cNvSpPr txBox="1">
            <a:spLocks noGrp="1"/>
          </p:cNvSpPr>
          <p:nvPr>
            <p:ph type="title"/>
          </p:nvPr>
        </p:nvSpPr>
        <p:spPr>
          <a:xfrm>
            <a:off x="994425" y="361575"/>
            <a:ext cx="10110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How does that </a:t>
            </a:r>
            <a:r>
              <a:rPr lang="en-US" sz="6000" dirty="0" smtClean="0">
                <a:solidFill>
                  <a:schemeClr val="accent1"/>
                </a:solidFill>
              </a:rPr>
              <a:t>HELP? </a:t>
            </a:r>
            <a:endParaRPr sz="6000" dirty="0">
              <a:solidFill>
                <a:schemeClr val="accent1"/>
              </a:solidFill>
            </a:endParaRPr>
          </a:p>
        </p:txBody>
      </p:sp>
      <p:sp>
        <p:nvSpPr>
          <p:cNvPr id="426" name="Google Shape;426;p27"/>
          <p:cNvSpPr txBox="1">
            <a:spLocks noGrp="1"/>
          </p:cNvSpPr>
          <p:nvPr>
            <p:ph type="body" idx="1"/>
          </p:nvPr>
        </p:nvSpPr>
        <p:spPr>
          <a:xfrm>
            <a:off x="1315075" y="2268525"/>
            <a:ext cx="4373344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en-US" dirty="0" smtClean="0"/>
              <a:t>Application</a:t>
            </a:r>
            <a:endParaRPr dirty="0" smtClean="0"/>
          </a:p>
          <a:p>
            <a:pPr marL="285750" lvl="0" indent="-285750">
              <a:spcBef>
                <a:spcPts val="2100"/>
              </a:spcBef>
              <a:buFontTx/>
              <a:buChar char="-"/>
            </a:pPr>
            <a:r>
              <a:rPr lang="en-US" dirty="0" err="1" smtClean="0"/>
              <a:t>Optimisation</a:t>
            </a:r>
            <a:r>
              <a:rPr lang="en-US" dirty="0" smtClean="0"/>
              <a:t> of materials for industry</a:t>
            </a:r>
          </a:p>
          <a:p>
            <a:pPr marL="285750" lvl="0" indent="-285750">
              <a:spcBef>
                <a:spcPts val="2100"/>
              </a:spcBef>
              <a:buFontTx/>
              <a:buChar char="-"/>
            </a:pPr>
            <a:r>
              <a:rPr lang="en-US" dirty="0" smtClean="0"/>
              <a:t>Development </a:t>
            </a:r>
            <a:r>
              <a:rPr lang="en-US" dirty="0"/>
              <a:t>of wear-resistant </a:t>
            </a:r>
            <a:r>
              <a:rPr lang="en-US" dirty="0" smtClean="0"/>
              <a:t>coatings</a:t>
            </a:r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dirty="0"/>
          </a:p>
        </p:txBody>
      </p:sp>
      <p:pic>
        <p:nvPicPr>
          <p:cNvPr id="3076" name="Picture 4" descr="Материаловедение &gt; Образовательный контент ОмГТУ: онлайн-курсы и  видеолекции для студентов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703" y="2532698"/>
            <a:ext cx="4146141" cy="220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3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</a:t>
            </a:r>
            <a:r>
              <a:rPr lang="en" sz="9000">
                <a:solidFill>
                  <a:schemeClr val="accent3"/>
                </a:solidFill>
              </a:rPr>
              <a:t>YOU!</a:t>
            </a:r>
            <a:endParaRPr sz="9000">
              <a:solidFill>
                <a:schemeClr val="accent3"/>
              </a:solidFill>
            </a:endParaRPr>
          </a:p>
        </p:txBody>
      </p:sp>
      <p:sp>
        <p:nvSpPr>
          <p:cNvPr id="854" name="Google Shape;854;p43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855" name="Google Shape;855;p43"/>
          <p:cNvSpPr/>
          <p:nvPr/>
        </p:nvSpPr>
        <p:spPr>
          <a:xfrm>
            <a:off x="8281390" y="4171653"/>
            <a:ext cx="181070" cy="392601"/>
          </a:xfrm>
          <a:custGeom>
            <a:avLst/>
            <a:gdLst/>
            <a:ahLst/>
            <a:cxnLst/>
            <a:rect l="l" t="t" r="r" b="b"/>
            <a:pathLst>
              <a:path w="7907" h="17146" extrusionOk="0">
                <a:moveTo>
                  <a:pt x="5538" y="0"/>
                </a:moveTo>
                <a:cubicBezTo>
                  <a:pt x="2969" y="0"/>
                  <a:pt x="1802" y="1134"/>
                  <a:pt x="1802" y="3303"/>
                </a:cubicBezTo>
                <a:lnTo>
                  <a:pt x="1802" y="5604"/>
                </a:lnTo>
                <a:lnTo>
                  <a:pt x="0" y="5604"/>
                </a:lnTo>
                <a:lnTo>
                  <a:pt x="0" y="8540"/>
                </a:lnTo>
                <a:lnTo>
                  <a:pt x="1802" y="8540"/>
                </a:lnTo>
                <a:lnTo>
                  <a:pt x="1802" y="17146"/>
                </a:lnTo>
                <a:lnTo>
                  <a:pt x="5238" y="17146"/>
                </a:lnTo>
                <a:lnTo>
                  <a:pt x="5238" y="8473"/>
                </a:lnTo>
                <a:lnTo>
                  <a:pt x="7673" y="8473"/>
                </a:lnTo>
                <a:lnTo>
                  <a:pt x="7906" y="5604"/>
                </a:lnTo>
                <a:lnTo>
                  <a:pt x="5238" y="5604"/>
                </a:lnTo>
                <a:lnTo>
                  <a:pt x="5238" y="3936"/>
                </a:lnTo>
                <a:cubicBezTo>
                  <a:pt x="5238" y="3269"/>
                  <a:pt x="5404" y="3002"/>
                  <a:pt x="6038" y="3002"/>
                </a:cubicBezTo>
                <a:lnTo>
                  <a:pt x="7906" y="3002"/>
                </a:lnTo>
                <a:lnTo>
                  <a:pt x="790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6" name="Google Shape;856;p43"/>
          <p:cNvGrpSpPr/>
          <p:nvPr/>
        </p:nvGrpSpPr>
        <p:grpSpPr>
          <a:xfrm>
            <a:off x="8814493" y="4162001"/>
            <a:ext cx="411849" cy="411917"/>
            <a:chOff x="5162200" y="4097750"/>
            <a:chExt cx="338385" cy="338414"/>
          </a:xfrm>
        </p:grpSpPr>
        <p:sp>
          <p:nvSpPr>
            <p:cNvPr id="857" name="Google Shape;857;p43"/>
            <p:cNvSpPr/>
            <p:nvPr/>
          </p:nvSpPr>
          <p:spPr>
            <a:xfrm>
              <a:off x="5162200" y="4097750"/>
              <a:ext cx="338385" cy="338414"/>
            </a:xfrm>
            <a:custGeom>
              <a:avLst/>
              <a:gdLst/>
              <a:ahLst/>
              <a:cxnLst/>
              <a:rect l="l" t="t" r="r" b="b"/>
              <a:pathLst>
                <a:path w="11842" h="11843" extrusionOk="0">
                  <a:moveTo>
                    <a:pt x="5938" y="1068"/>
                  </a:moveTo>
                  <a:cubicBezTo>
                    <a:pt x="7505" y="1068"/>
                    <a:pt x="7706" y="1068"/>
                    <a:pt x="8339" y="1101"/>
                  </a:cubicBezTo>
                  <a:cubicBezTo>
                    <a:pt x="8906" y="1135"/>
                    <a:pt x="9207" y="1201"/>
                    <a:pt x="9440" y="1301"/>
                  </a:cubicBezTo>
                  <a:cubicBezTo>
                    <a:pt x="9707" y="1401"/>
                    <a:pt x="9907" y="1535"/>
                    <a:pt x="10107" y="1735"/>
                  </a:cubicBezTo>
                  <a:cubicBezTo>
                    <a:pt x="10307" y="1935"/>
                    <a:pt x="10441" y="2135"/>
                    <a:pt x="10541" y="2435"/>
                  </a:cubicBezTo>
                  <a:cubicBezTo>
                    <a:pt x="10641" y="2636"/>
                    <a:pt x="10741" y="2936"/>
                    <a:pt x="10741" y="3536"/>
                  </a:cubicBezTo>
                  <a:cubicBezTo>
                    <a:pt x="10774" y="4137"/>
                    <a:pt x="10774" y="4337"/>
                    <a:pt x="10774" y="5905"/>
                  </a:cubicBezTo>
                  <a:cubicBezTo>
                    <a:pt x="10774" y="7506"/>
                    <a:pt x="10774" y="7706"/>
                    <a:pt x="10741" y="8306"/>
                  </a:cubicBezTo>
                  <a:cubicBezTo>
                    <a:pt x="10741" y="8907"/>
                    <a:pt x="10641" y="9207"/>
                    <a:pt x="10541" y="9407"/>
                  </a:cubicBezTo>
                  <a:cubicBezTo>
                    <a:pt x="10441" y="9707"/>
                    <a:pt x="10307" y="9907"/>
                    <a:pt x="10107" y="10108"/>
                  </a:cubicBezTo>
                  <a:cubicBezTo>
                    <a:pt x="9907" y="10308"/>
                    <a:pt x="9707" y="10441"/>
                    <a:pt x="9440" y="10541"/>
                  </a:cubicBezTo>
                  <a:cubicBezTo>
                    <a:pt x="9207" y="10608"/>
                    <a:pt x="8906" y="10708"/>
                    <a:pt x="8339" y="10741"/>
                  </a:cubicBezTo>
                  <a:cubicBezTo>
                    <a:pt x="7706" y="10775"/>
                    <a:pt x="7505" y="10775"/>
                    <a:pt x="5938" y="10775"/>
                  </a:cubicBezTo>
                  <a:cubicBezTo>
                    <a:pt x="4337" y="10775"/>
                    <a:pt x="4170" y="10775"/>
                    <a:pt x="3536" y="10741"/>
                  </a:cubicBezTo>
                  <a:cubicBezTo>
                    <a:pt x="2969" y="10708"/>
                    <a:pt x="2635" y="10608"/>
                    <a:pt x="2435" y="10541"/>
                  </a:cubicBezTo>
                  <a:cubicBezTo>
                    <a:pt x="2168" y="10441"/>
                    <a:pt x="1968" y="10308"/>
                    <a:pt x="1735" y="10108"/>
                  </a:cubicBezTo>
                  <a:cubicBezTo>
                    <a:pt x="1535" y="9874"/>
                    <a:pt x="1401" y="9674"/>
                    <a:pt x="1301" y="9407"/>
                  </a:cubicBezTo>
                  <a:cubicBezTo>
                    <a:pt x="1234" y="9207"/>
                    <a:pt x="1134" y="8907"/>
                    <a:pt x="1101" y="8306"/>
                  </a:cubicBezTo>
                  <a:cubicBezTo>
                    <a:pt x="1068" y="7706"/>
                    <a:pt x="1068" y="7506"/>
                    <a:pt x="1068" y="5905"/>
                  </a:cubicBezTo>
                  <a:cubicBezTo>
                    <a:pt x="1068" y="4337"/>
                    <a:pt x="1068" y="4137"/>
                    <a:pt x="1101" y="3536"/>
                  </a:cubicBezTo>
                  <a:cubicBezTo>
                    <a:pt x="1134" y="2936"/>
                    <a:pt x="1234" y="2636"/>
                    <a:pt x="1301" y="2435"/>
                  </a:cubicBezTo>
                  <a:cubicBezTo>
                    <a:pt x="1401" y="2135"/>
                    <a:pt x="1535" y="1935"/>
                    <a:pt x="1735" y="1735"/>
                  </a:cubicBezTo>
                  <a:cubicBezTo>
                    <a:pt x="1968" y="1535"/>
                    <a:pt x="2168" y="1401"/>
                    <a:pt x="2435" y="1301"/>
                  </a:cubicBezTo>
                  <a:cubicBezTo>
                    <a:pt x="2635" y="1235"/>
                    <a:pt x="2969" y="1135"/>
                    <a:pt x="3536" y="1101"/>
                  </a:cubicBezTo>
                  <a:cubicBezTo>
                    <a:pt x="4170" y="1068"/>
                    <a:pt x="4337" y="1068"/>
                    <a:pt x="5938" y="1068"/>
                  </a:cubicBezTo>
                  <a:close/>
                  <a:moveTo>
                    <a:pt x="5938" y="0"/>
                  </a:moveTo>
                  <a:cubicBezTo>
                    <a:pt x="4337" y="0"/>
                    <a:pt x="4103" y="0"/>
                    <a:pt x="3503" y="34"/>
                  </a:cubicBezTo>
                  <a:cubicBezTo>
                    <a:pt x="2869" y="67"/>
                    <a:pt x="2435" y="167"/>
                    <a:pt x="2035" y="301"/>
                  </a:cubicBezTo>
                  <a:cubicBezTo>
                    <a:pt x="1668" y="467"/>
                    <a:pt x="1334" y="668"/>
                    <a:pt x="1001" y="1001"/>
                  </a:cubicBezTo>
                  <a:cubicBezTo>
                    <a:pt x="667" y="1335"/>
                    <a:pt x="467" y="1635"/>
                    <a:pt x="300" y="2035"/>
                  </a:cubicBezTo>
                  <a:cubicBezTo>
                    <a:pt x="167" y="2402"/>
                    <a:pt x="67" y="2836"/>
                    <a:pt x="33" y="3470"/>
                  </a:cubicBezTo>
                  <a:cubicBezTo>
                    <a:pt x="0" y="4103"/>
                    <a:pt x="0" y="4303"/>
                    <a:pt x="0" y="5938"/>
                  </a:cubicBezTo>
                  <a:cubicBezTo>
                    <a:pt x="0" y="7539"/>
                    <a:pt x="0" y="7739"/>
                    <a:pt x="33" y="8373"/>
                  </a:cubicBezTo>
                  <a:cubicBezTo>
                    <a:pt x="67" y="9007"/>
                    <a:pt x="167" y="9440"/>
                    <a:pt x="300" y="9807"/>
                  </a:cubicBezTo>
                  <a:cubicBezTo>
                    <a:pt x="467" y="10208"/>
                    <a:pt x="667" y="10541"/>
                    <a:pt x="1001" y="10841"/>
                  </a:cubicBezTo>
                  <a:cubicBezTo>
                    <a:pt x="1334" y="11175"/>
                    <a:pt x="1668" y="11375"/>
                    <a:pt x="2035" y="11542"/>
                  </a:cubicBezTo>
                  <a:cubicBezTo>
                    <a:pt x="2435" y="11675"/>
                    <a:pt x="2869" y="11775"/>
                    <a:pt x="3503" y="11809"/>
                  </a:cubicBezTo>
                  <a:cubicBezTo>
                    <a:pt x="4103" y="11842"/>
                    <a:pt x="4337" y="11842"/>
                    <a:pt x="5938" y="11842"/>
                  </a:cubicBezTo>
                  <a:cubicBezTo>
                    <a:pt x="7539" y="11842"/>
                    <a:pt x="7739" y="11842"/>
                    <a:pt x="8373" y="11809"/>
                  </a:cubicBezTo>
                  <a:cubicBezTo>
                    <a:pt x="9007" y="11775"/>
                    <a:pt x="9440" y="11675"/>
                    <a:pt x="9807" y="11542"/>
                  </a:cubicBezTo>
                  <a:cubicBezTo>
                    <a:pt x="10207" y="11375"/>
                    <a:pt x="10541" y="11175"/>
                    <a:pt x="10875" y="10841"/>
                  </a:cubicBezTo>
                  <a:cubicBezTo>
                    <a:pt x="11208" y="10508"/>
                    <a:pt x="11408" y="10208"/>
                    <a:pt x="11542" y="9807"/>
                  </a:cubicBezTo>
                  <a:cubicBezTo>
                    <a:pt x="11708" y="9440"/>
                    <a:pt x="11775" y="9007"/>
                    <a:pt x="11809" y="8373"/>
                  </a:cubicBezTo>
                  <a:cubicBezTo>
                    <a:pt x="11842" y="7739"/>
                    <a:pt x="11842" y="7539"/>
                    <a:pt x="11842" y="5938"/>
                  </a:cubicBezTo>
                  <a:cubicBezTo>
                    <a:pt x="11842" y="4303"/>
                    <a:pt x="11842" y="4103"/>
                    <a:pt x="11809" y="3470"/>
                  </a:cubicBezTo>
                  <a:cubicBezTo>
                    <a:pt x="11809" y="2836"/>
                    <a:pt x="11708" y="2402"/>
                    <a:pt x="11542" y="2035"/>
                  </a:cubicBezTo>
                  <a:cubicBezTo>
                    <a:pt x="11408" y="1668"/>
                    <a:pt x="11175" y="1301"/>
                    <a:pt x="10875" y="1001"/>
                  </a:cubicBezTo>
                  <a:cubicBezTo>
                    <a:pt x="10541" y="668"/>
                    <a:pt x="10207" y="467"/>
                    <a:pt x="9807" y="301"/>
                  </a:cubicBezTo>
                  <a:cubicBezTo>
                    <a:pt x="9440" y="167"/>
                    <a:pt x="9007" y="67"/>
                    <a:pt x="8373" y="34"/>
                  </a:cubicBezTo>
                  <a:cubicBezTo>
                    <a:pt x="7739" y="0"/>
                    <a:pt x="7539" y="0"/>
                    <a:pt x="5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3"/>
            <p:cNvSpPr/>
            <p:nvPr/>
          </p:nvSpPr>
          <p:spPr>
            <a:xfrm>
              <a:off x="5245127" y="4179731"/>
              <a:ext cx="173507" cy="174450"/>
            </a:xfrm>
            <a:custGeom>
              <a:avLst/>
              <a:gdLst/>
              <a:ahLst/>
              <a:cxnLst/>
              <a:rect l="l" t="t" r="r" b="b"/>
              <a:pathLst>
                <a:path w="6072" h="6105" extrusionOk="0">
                  <a:moveTo>
                    <a:pt x="3036" y="1068"/>
                  </a:moveTo>
                  <a:cubicBezTo>
                    <a:pt x="4136" y="1068"/>
                    <a:pt x="5004" y="1968"/>
                    <a:pt x="5004" y="3036"/>
                  </a:cubicBezTo>
                  <a:cubicBezTo>
                    <a:pt x="5004" y="4136"/>
                    <a:pt x="4136" y="5037"/>
                    <a:pt x="3036" y="5037"/>
                  </a:cubicBezTo>
                  <a:cubicBezTo>
                    <a:pt x="1935" y="5037"/>
                    <a:pt x="1068" y="4136"/>
                    <a:pt x="1068" y="3036"/>
                  </a:cubicBezTo>
                  <a:cubicBezTo>
                    <a:pt x="1068" y="1968"/>
                    <a:pt x="1935" y="1068"/>
                    <a:pt x="3036" y="1068"/>
                  </a:cubicBezTo>
                  <a:close/>
                  <a:moveTo>
                    <a:pt x="3036" y="0"/>
                  </a:moveTo>
                  <a:cubicBezTo>
                    <a:pt x="1334" y="0"/>
                    <a:pt x="0" y="1368"/>
                    <a:pt x="0" y="3036"/>
                  </a:cubicBezTo>
                  <a:cubicBezTo>
                    <a:pt x="0" y="4737"/>
                    <a:pt x="1334" y="6104"/>
                    <a:pt x="3036" y="6104"/>
                  </a:cubicBezTo>
                  <a:cubicBezTo>
                    <a:pt x="4704" y="6104"/>
                    <a:pt x="6071" y="4737"/>
                    <a:pt x="6071" y="3036"/>
                  </a:cubicBezTo>
                  <a:cubicBezTo>
                    <a:pt x="6071" y="1368"/>
                    <a:pt x="4704" y="0"/>
                    <a:pt x="3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3"/>
            <p:cNvSpPr/>
            <p:nvPr/>
          </p:nvSpPr>
          <p:spPr>
            <a:xfrm>
              <a:off x="5401436" y="4155900"/>
              <a:ext cx="41034" cy="41005"/>
            </a:xfrm>
            <a:custGeom>
              <a:avLst/>
              <a:gdLst/>
              <a:ahLst/>
              <a:cxnLst/>
              <a:rect l="l" t="t" r="r" b="b"/>
              <a:pathLst>
                <a:path w="1436" h="1435" extrusionOk="0">
                  <a:moveTo>
                    <a:pt x="735" y="0"/>
                  </a:moveTo>
                  <a:cubicBezTo>
                    <a:pt x="334" y="0"/>
                    <a:pt x="1" y="334"/>
                    <a:pt x="1" y="734"/>
                  </a:cubicBezTo>
                  <a:cubicBezTo>
                    <a:pt x="1" y="1101"/>
                    <a:pt x="334" y="1435"/>
                    <a:pt x="735" y="1435"/>
                  </a:cubicBezTo>
                  <a:cubicBezTo>
                    <a:pt x="1135" y="1435"/>
                    <a:pt x="1435" y="1101"/>
                    <a:pt x="1435" y="734"/>
                  </a:cubicBezTo>
                  <a:cubicBezTo>
                    <a:pt x="1435" y="334"/>
                    <a:pt x="1102" y="0"/>
                    <a:pt x="7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0" name="Google Shape;860;p43"/>
          <p:cNvSpPr/>
          <p:nvPr/>
        </p:nvSpPr>
        <p:spPr>
          <a:xfrm>
            <a:off x="7548500" y="4213036"/>
            <a:ext cx="380848" cy="309834"/>
          </a:xfrm>
          <a:custGeom>
            <a:avLst/>
            <a:gdLst/>
            <a:ahLst/>
            <a:cxnLst/>
            <a:rect l="l" t="t" r="r" b="b"/>
            <a:pathLst>
              <a:path w="16446" h="13378" extrusionOk="0">
                <a:moveTo>
                  <a:pt x="11375" y="1"/>
                </a:moveTo>
                <a:cubicBezTo>
                  <a:pt x="9207" y="1"/>
                  <a:pt x="7606" y="2036"/>
                  <a:pt x="8106" y="4137"/>
                </a:cubicBezTo>
                <a:cubicBezTo>
                  <a:pt x="5304" y="4004"/>
                  <a:pt x="2802" y="2669"/>
                  <a:pt x="1135" y="635"/>
                </a:cubicBezTo>
                <a:lnTo>
                  <a:pt x="1135" y="635"/>
                </a:lnTo>
                <a:cubicBezTo>
                  <a:pt x="267" y="2136"/>
                  <a:pt x="701" y="4137"/>
                  <a:pt x="2202" y="5138"/>
                </a:cubicBezTo>
                <a:cubicBezTo>
                  <a:pt x="1635" y="5104"/>
                  <a:pt x="1135" y="4971"/>
                  <a:pt x="668" y="4704"/>
                </a:cubicBezTo>
                <a:lnTo>
                  <a:pt x="668" y="4704"/>
                </a:lnTo>
                <a:cubicBezTo>
                  <a:pt x="634" y="6272"/>
                  <a:pt x="1735" y="7740"/>
                  <a:pt x="3370" y="8040"/>
                </a:cubicBezTo>
                <a:cubicBezTo>
                  <a:pt x="3087" y="8121"/>
                  <a:pt x="2780" y="8165"/>
                  <a:pt x="2463" y="8165"/>
                </a:cubicBezTo>
                <a:cubicBezTo>
                  <a:pt x="2256" y="8165"/>
                  <a:pt x="2046" y="8146"/>
                  <a:pt x="1835" y="8107"/>
                </a:cubicBezTo>
                <a:lnTo>
                  <a:pt x="1835" y="8107"/>
                </a:lnTo>
                <a:cubicBezTo>
                  <a:pt x="2269" y="9441"/>
                  <a:pt x="3503" y="10408"/>
                  <a:pt x="5004" y="10442"/>
                </a:cubicBezTo>
                <a:cubicBezTo>
                  <a:pt x="3785" y="11406"/>
                  <a:pt x="2325" y="11888"/>
                  <a:pt x="808" y="11888"/>
                </a:cubicBezTo>
                <a:cubicBezTo>
                  <a:pt x="540" y="11888"/>
                  <a:pt x="271" y="11873"/>
                  <a:pt x="0" y="11843"/>
                </a:cubicBezTo>
                <a:lnTo>
                  <a:pt x="0" y="11843"/>
                </a:lnTo>
                <a:cubicBezTo>
                  <a:pt x="1502" y="12810"/>
                  <a:pt x="3269" y="13377"/>
                  <a:pt x="5171" y="13377"/>
                </a:cubicBezTo>
                <a:cubicBezTo>
                  <a:pt x="11442" y="13377"/>
                  <a:pt x="14978" y="8073"/>
                  <a:pt x="14744" y="3337"/>
                </a:cubicBezTo>
                <a:cubicBezTo>
                  <a:pt x="15411" y="2870"/>
                  <a:pt x="15979" y="2269"/>
                  <a:pt x="16446" y="1602"/>
                </a:cubicBezTo>
                <a:lnTo>
                  <a:pt x="16446" y="1602"/>
                </a:lnTo>
                <a:cubicBezTo>
                  <a:pt x="15812" y="1869"/>
                  <a:pt x="15178" y="2036"/>
                  <a:pt x="14511" y="2136"/>
                </a:cubicBezTo>
                <a:cubicBezTo>
                  <a:pt x="15178" y="1702"/>
                  <a:pt x="15712" y="1035"/>
                  <a:pt x="15979" y="268"/>
                </a:cubicBezTo>
                <a:lnTo>
                  <a:pt x="15979" y="268"/>
                </a:lnTo>
                <a:cubicBezTo>
                  <a:pt x="15311" y="635"/>
                  <a:pt x="14611" y="935"/>
                  <a:pt x="13844" y="1068"/>
                </a:cubicBezTo>
                <a:cubicBezTo>
                  <a:pt x="13210" y="434"/>
                  <a:pt x="12343" y="1"/>
                  <a:pt x="113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3"/>
          <p:cNvSpPr txBox="1">
            <a:spLocks noGrp="1"/>
          </p:cNvSpPr>
          <p:nvPr>
            <p:ph type="body" idx="2"/>
          </p:nvPr>
        </p:nvSpPr>
        <p:spPr>
          <a:xfrm>
            <a:off x="7037602" y="2853510"/>
            <a:ext cx="3965630" cy="106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</a:t>
            </a:r>
            <a:r>
              <a:rPr lang="en" dirty="0" smtClean="0"/>
              <a:t>lad.razuvaev.2805@mail.com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FFFFFF"/>
      </a:dk1>
      <a:lt1>
        <a:srgbClr val="16242F"/>
      </a:lt1>
      <a:dk2>
        <a:srgbClr val="FFFFFF"/>
      </a:dk2>
      <a:lt2>
        <a:srgbClr val="1F3240"/>
      </a:lt2>
      <a:accent1>
        <a:srgbClr val="EB8FD8"/>
      </a:accent1>
      <a:accent2>
        <a:srgbClr val="BA94E9"/>
      </a:accent2>
      <a:accent3>
        <a:srgbClr val="B9D4B4"/>
      </a:accent3>
      <a:accent4>
        <a:srgbClr val="F46659"/>
      </a:accent4>
      <a:accent5>
        <a:srgbClr val="FFBC3E"/>
      </a:accent5>
      <a:accent6>
        <a:srgbClr val="1CC549"/>
      </a:accent6>
      <a:hlink>
        <a:srgbClr val="EB8F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157</Words>
  <Application>Microsoft Office PowerPoint</Application>
  <PresentationFormat>Широкоэкранный</PresentationFormat>
  <Paragraphs>28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Roboto Mono</vt:lpstr>
      <vt:lpstr>Arial</vt:lpstr>
      <vt:lpstr>Aldrich</vt:lpstr>
      <vt:lpstr>Roboto</vt:lpstr>
      <vt:lpstr>Calibri</vt:lpstr>
      <vt:lpstr>Abril Fatface</vt:lpstr>
      <vt:lpstr>SlidesMania</vt:lpstr>
      <vt:lpstr>Development of a  Friction Tester  for research of tribological properties</vt:lpstr>
      <vt:lpstr>Why it's Important?</vt:lpstr>
      <vt:lpstr>Purpose of Work?</vt:lpstr>
      <vt:lpstr> How does it Work?</vt:lpstr>
      <vt:lpstr>What's New?</vt:lpstr>
      <vt:lpstr> RESULTS</vt:lpstr>
      <vt:lpstr>What did you Get? </vt:lpstr>
      <vt:lpstr>How does that HELP?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WHERE YOU ADD YOUR PRESENTATION TITLE.</dc:title>
  <cp:lastModifiedBy>Владислав Разуваев</cp:lastModifiedBy>
  <cp:revision>47</cp:revision>
  <dcterms:modified xsi:type="dcterms:W3CDTF">2025-05-27T16:34:10Z</dcterms:modified>
</cp:coreProperties>
</file>