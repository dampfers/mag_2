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6"/>
  </p:notesMasterIdLst>
  <p:sldIdLst>
    <p:sldId id="256" r:id="rId2"/>
    <p:sldId id="281" r:id="rId3"/>
    <p:sldId id="282" r:id="rId4"/>
    <p:sldId id="271" r:id="rId5"/>
    <p:sldId id="274" r:id="rId6"/>
    <p:sldId id="283" r:id="rId7"/>
    <p:sldId id="259" r:id="rId8"/>
    <p:sldId id="289" r:id="rId9"/>
    <p:sldId id="258" r:id="rId10"/>
    <p:sldId id="263" r:id="rId11"/>
    <p:sldId id="290" r:id="rId12"/>
    <p:sldId id="291" r:id="rId13"/>
    <p:sldId id="292" r:id="rId14"/>
    <p:sldId id="277" r:id="rId15"/>
  </p:sldIdLst>
  <p:sldSz cx="12192000" cy="6858000"/>
  <p:notesSz cx="6858000" cy="9144000"/>
  <p:embeddedFontLst>
    <p:embeddedFont>
      <p:font typeface="Abril Fatface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Roboto Mon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D4B4"/>
    <a:srgbClr val="5E22A6"/>
    <a:srgbClr val="BA9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564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504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a073618e6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a073618e6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a073618e6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a073618e6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892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a073618e6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a073618e6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2654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027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098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a073618e6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a073618e6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093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5"/>
          <p:cNvGrpSpPr/>
          <p:nvPr/>
        </p:nvGrpSpPr>
        <p:grpSpPr>
          <a:xfrm>
            <a:off x="8201100" y="4138775"/>
            <a:ext cx="3509100" cy="2030700"/>
            <a:chOff x="8115925" y="1776575"/>
            <a:chExt cx="3509100" cy="2030700"/>
          </a:xfrm>
        </p:grpSpPr>
        <p:sp>
          <p:nvSpPr>
            <p:cNvPr id="83" name="Google Shape;83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" name="Google Shape;84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5"/>
          <p:cNvGrpSpPr/>
          <p:nvPr/>
        </p:nvGrpSpPr>
        <p:grpSpPr>
          <a:xfrm>
            <a:off x="481800" y="4138775"/>
            <a:ext cx="3509100" cy="2030700"/>
            <a:chOff x="396625" y="1776575"/>
            <a:chExt cx="3509100" cy="2030700"/>
          </a:xfrm>
        </p:grpSpPr>
        <p:sp>
          <p:nvSpPr>
            <p:cNvPr id="89" name="Google Shape;89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5"/>
          <p:cNvGrpSpPr/>
          <p:nvPr/>
        </p:nvGrpSpPr>
        <p:grpSpPr>
          <a:xfrm>
            <a:off x="4341450" y="4138775"/>
            <a:ext cx="3509100" cy="2030700"/>
            <a:chOff x="4234200" y="1776575"/>
            <a:chExt cx="3509100" cy="2030700"/>
          </a:xfrm>
        </p:grpSpPr>
        <p:sp>
          <p:nvSpPr>
            <p:cNvPr id="95" name="Google Shape;95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5"/>
          <p:cNvGrpSpPr/>
          <p:nvPr/>
        </p:nvGrpSpPr>
        <p:grpSpPr>
          <a:xfrm>
            <a:off x="481800" y="1776575"/>
            <a:ext cx="3509100" cy="2030700"/>
            <a:chOff x="396625" y="1776575"/>
            <a:chExt cx="3509100" cy="2030700"/>
          </a:xfrm>
        </p:grpSpPr>
        <p:sp>
          <p:nvSpPr>
            <p:cNvPr id="101" name="Google Shape;101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" name="Google Shape;106;p5"/>
          <p:cNvGrpSpPr/>
          <p:nvPr/>
        </p:nvGrpSpPr>
        <p:grpSpPr>
          <a:xfrm>
            <a:off x="8201100" y="1776575"/>
            <a:ext cx="3509100" cy="2030700"/>
            <a:chOff x="8115925" y="1776575"/>
            <a:chExt cx="3509100" cy="2030700"/>
          </a:xfrm>
        </p:grpSpPr>
        <p:sp>
          <p:nvSpPr>
            <p:cNvPr id="107" name="Google Shape;107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09" name="Google Shape;109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5"/>
          <p:cNvGrpSpPr/>
          <p:nvPr/>
        </p:nvGrpSpPr>
        <p:grpSpPr>
          <a:xfrm>
            <a:off x="4341450" y="1776575"/>
            <a:ext cx="3509100" cy="2030700"/>
            <a:chOff x="4234200" y="1776575"/>
            <a:chExt cx="3509100" cy="2030700"/>
          </a:xfrm>
        </p:grpSpPr>
        <p:sp>
          <p:nvSpPr>
            <p:cNvPr id="113" name="Google Shape;113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90775" y="523275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 idx="5"/>
          </p:nvPr>
        </p:nvSpPr>
        <p:spPr>
          <a:xfrm>
            <a:off x="942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6"/>
          </p:nvPr>
        </p:nvSpPr>
        <p:spPr>
          <a:xfrm>
            <a:off x="4448700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7"/>
          </p:nvPr>
        </p:nvSpPr>
        <p:spPr>
          <a:xfrm>
            <a:off x="49077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8"/>
          </p:nvPr>
        </p:nvSpPr>
        <p:spPr>
          <a:xfrm>
            <a:off x="4448700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 idx="14"/>
          </p:nvPr>
        </p:nvSpPr>
        <p:spPr>
          <a:xfrm>
            <a:off x="8406625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 idx="15"/>
          </p:nvPr>
        </p:nvSpPr>
        <p:spPr>
          <a:xfrm>
            <a:off x="840662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1069989" y="1020925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134" name="Google Shape;134;p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3811700" y="2041663"/>
            <a:ext cx="63459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34300" y="4052838"/>
            <a:ext cx="8123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CUSTOM_12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637675" y="1652150"/>
            <a:ext cx="10994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p15"/>
          <p:cNvGrpSpPr/>
          <p:nvPr/>
        </p:nvGrpSpPr>
        <p:grpSpPr>
          <a:xfrm>
            <a:off x="790921" y="1762259"/>
            <a:ext cx="635280" cy="147600"/>
            <a:chOff x="2147366" y="4139382"/>
            <a:chExt cx="635280" cy="147600"/>
          </a:xfrm>
        </p:grpSpPr>
        <p:sp>
          <p:nvSpPr>
            <p:cNvPr id="259" name="Google Shape;259;p1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5"/>
          <p:cNvSpPr txBox="1">
            <a:spLocks noGrp="1"/>
          </p:cNvSpPr>
          <p:nvPr>
            <p:ph type="subTitle" idx="1"/>
          </p:nvPr>
        </p:nvSpPr>
        <p:spPr>
          <a:xfrm>
            <a:off x="1068150" y="239220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3" name="Google Shape;263;p15"/>
          <p:cNvSpPr txBox="1">
            <a:spLocks noGrp="1"/>
          </p:cNvSpPr>
          <p:nvPr>
            <p:ph type="subTitle" idx="2"/>
          </p:nvPr>
        </p:nvSpPr>
        <p:spPr>
          <a:xfrm>
            <a:off x="1068150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4" name="Google Shape;264;p15"/>
          <p:cNvSpPr txBox="1">
            <a:spLocks noGrp="1"/>
          </p:cNvSpPr>
          <p:nvPr>
            <p:ph type="subTitle" idx="3"/>
          </p:nvPr>
        </p:nvSpPr>
        <p:spPr>
          <a:xfrm>
            <a:off x="8181360" y="240158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5" name="Google Shape;265;p15"/>
          <p:cNvSpPr txBox="1">
            <a:spLocks noGrp="1"/>
          </p:cNvSpPr>
          <p:nvPr>
            <p:ph type="subTitle" idx="4"/>
          </p:nvPr>
        </p:nvSpPr>
        <p:spPr>
          <a:xfrm>
            <a:off x="4643968" y="240955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6" name="Google Shape;266;p15"/>
          <p:cNvSpPr txBox="1">
            <a:spLocks noGrp="1"/>
          </p:cNvSpPr>
          <p:nvPr>
            <p:ph type="subTitle" idx="5"/>
          </p:nvPr>
        </p:nvSpPr>
        <p:spPr>
          <a:xfrm>
            <a:off x="4643968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7" name="Google Shape;267;p15"/>
          <p:cNvSpPr txBox="1">
            <a:spLocks noGrp="1"/>
          </p:cNvSpPr>
          <p:nvPr>
            <p:ph type="subTitle" idx="6"/>
          </p:nvPr>
        </p:nvSpPr>
        <p:spPr>
          <a:xfrm>
            <a:off x="8181360" y="423038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title"/>
          </p:nvPr>
        </p:nvSpPr>
        <p:spPr>
          <a:xfrm>
            <a:off x="720400" y="3647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body" idx="7"/>
          </p:nvPr>
        </p:nvSpPr>
        <p:spPr>
          <a:xfrm>
            <a:off x="4643968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body" idx="8"/>
          </p:nvPr>
        </p:nvSpPr>
        <p:spPr>
          <a:xfrm>
            <a:off x="8181360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body" idx="9"/>
          </p:nvPr>
        </p:nvSpPr>
        <p:spPr>
          <a:xfrm>
            <a:off x="4643968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3"/>
          </p:nvPr>
        </p:nvSpPr>
        <p:spPr>
          <a:xfrm>
            <a:off x="1068150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body" idx="14"/>
          </p:nvPr>
        </p:nvSpPr>
        <p:spPr>
          <a:xfrm>
            <a:off x="8181360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body" idx="15"/>
          </p:nvPr>
        </p:nvSpPr>
        <p:spPr>
          <a:xfrm>
            <a:off x="1068150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CUSTOM_13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/>
          <p:nvPr/>
        </p:nvSpPr>
        <p:spPr>
          <a:xfrm>
            <a:off x="357875" y="339900"/>
            <a:ext cx="10744500" cy="5971800"/>
          </a:xfrm>
          <a:prstGeom prst="roundRect">
            <a:avLst>
              <a:gd name="adj" fmla="val 1957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6"/>
          <p:cNvGrpSpPr/>
          <p:nvPr/>
        </p:nvGrpSpPr>
        <p:grpSpPr>
          <a:xfrm>
            <a:off x="8217599" y="1674644"/>
            <a:ext cx="3629545" cy="4971542"/>
            <a:chOff x="5002050" y="1555325"/>
            <a:chExt cx="2081400" cy="1649100"/>
          </a:xfrm>
        </p:grpSpPr>
        <p:sp>
          <p:nvSpPr>
            <p:cNvPr id="278" name="Google Shape;278;p16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6"/>
          <p:cNvGrpSpPr/>
          <p:nvPr/>
        </p:nvGrpSpPr>
        <p:grpSpPr>
          <a:xfrm>
            <a:off x="455671" y="445784"/>
            <a:ext cx="635280" cy="147600"/>
            <a:chOff x="2147366" y="4139382"/>
            <a:chExt cx="635280" cy="147600"/>
          </a:xfrm>
        </p:grpSpPr>
        <p:sp>
          <p:nvSpPr>
            <p:cNvPr id="281" name="Google Shape;281;p1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6"/>
          <p:cNvGrpSpPr/>
          <p:nvPr/>
        </p:nvGrpSpPr>
        <p:grpSpPr>
          <a:xfrm>
            <a:off x="8333246" y="1763834"/>
            <a:ext cx="635280" cy="147600"/>
            <a:chOff x="2147366" y="4139382"/>
            <a:chExt cx="635280" cy="147600"/>
          </a:xfrm>
        </p:grpSpPr>
        <p:sp>
          <p:nvSpPr>
            <p:cNvPr id="285" name="Google Shape;285;p1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6"/>
          <p:cNvSpPr txBox="1">
            <a:spLocks noGrp="1"/>
          </p:cNvSpPr>
          <p:nvPr>
            <p:ph type="subTitle" idx="1"/>
          </p:nvPr>
        </p:nvSpPr>
        <p:spPr>
          <a:xfrm>
            <a:off x="8454700" y="2110975"/>
            <a:ext cx="3231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subTitle" idx="2"/>
          </p:nvPr>
        </p:nvSpPr>
        <p:spPr>
          <a:xfrm>
            <a:off x="8454700" y="4331357"/>
            <a:ext cx="3231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90" name="Google Shape;290;p16"/>
          <p:cNvSpPr txBox="1">
            <a:spLocks noGrp="1"/>
          </p:cNvSpPr>
          <p:nvPr>
            <p:ph type="title"/>
          </p:nvPr>
        </p:nvSpPr>
        <p:spPr>
          <a:xfrm>
            <a:off x="568000" y="593375"/>
            <a:ext cx="10352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91" name="Google Shape;291;p16"/>
          <p:cNvSpPr txBox="1">
            <a:spLocks noGrp="1"/>
          </p:cNvSpPr>
          <p:nvPr>
            <p:ph type="body" idx="3"/>
          </p:nvPr>
        </p:nvSpPr>
        <p:spPr>
          <a:xfrm>
            <a:off x="8454700" y="2546975"/>
            <a:ext cx="32310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92" name="Google Shape;292;p16"/>
          <p:cNvSpPr txBox="1">
            <a:spLocks noGrp="1"/>
          </p:cNvSpPr>
          <p:nvPr>
            <p:ph type="body" idx="4"/>
          </p:nvPr>
        </p:nvSpPr>
        <p:spPr>
          <a:xfrm>
            <a:off x="8454700" y="4735300"/>
            <a:ext cx="32310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/>
          <p:nvPr/>
        </p:nvSpPr>
        <p:spPr>
          <a:xfrm>
            <a:off x="9755550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17"/>
          <p:cNvGrpSpPr/>
          <p:nvPr/>
        </p:nvGrpSpPr>
        <p:grpSpPr>
          <a:xfrm>
            <a:off x="9896946" y="2147659"/>
            <a:ext cx="635280" cy="147600"/>
            <a:chOff x="2147366" y="4139382"/>
            <a:chExt cx="635280" cy="147600"/>
          </a:xfrm>
        </p:grpSpPr>
        <p:sp>
          <p:nvSpPr>
            <p:cNvPr id="296" name="Google Shape;296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7"/>
          <p:cNvGrpSpPr/>
          <p:nvPr/>
        </p:nvGrpSpPr>
        <p:grpSpPr>
          <a:xfrm>
            <a:off x="7372797" y="2017625"/>
            <a:ext cx="2211900" cy="3594900"/>
            <a:chOff x="7395788" y="2017625"/>
            <a:chExt cx="2211900" cy="3594900"/>
          </a:xfrm>
        </p:grpSpPr>
        <p:sp>
          <p:nvSpPr>
            <p:cNvPr id="300" name="Google Shape;300;p17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7"/>
          <p:cNvSpPr/>
          <p:nvPr/>
        </p:nvSpPr>
        <p:spPr>
          <a:xfrm>
            <a:off x="4990044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7"/>
          <p:cNvGrpSpPr/>
          <p:nvPr/>
        </p:nvGrpSpPr>
        <p:grpSpPr>
          <a:xfrm>
            <a:off x="7496046" y="2131234"/>
            <a:ext cx="635280" cy="147600"/>
            <a:chOff x="2147366" y="4139382"/>
            <a:chExt cx="635280" cy="147600"/>
          </a:xfrm>
        </p:grpSpPr>
        <p:sp>
          <p:nvSpPr>
            <p:cNvPr id="304" name="Google Shape;304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7"/>
          <p:cNvGrpSpPr/>
          <p:nvPr/>
        </p:nvGrpSpPr>
        <p:grpSpPr>
          <a:xfrm>
            <a:off x="5131446" y="2147659"/>
            <a:ext cx="635280" cy="147600"/>
            <a:chOff x="2147366" y="4139382"/>
            <a:chExt cx="635280" cy="147600"/>
          </a:xfrm>
        </p:grpSpPr>
        <p:sp>
          <p:nvSpPr>
            <p:cNvPr id="308" name="Google Shape;308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7"/>
          <p:cNvGrpSpPr/>
          <p:nvPr/>
        </p:nvGrpSpPr>
        <p:grpSpPr>
          <a:xfrm>
            <a:off x="2607291" y="2017625"/>
            <a:ext cx="2211900" cy="3594900"/>
            <a:chOff x="2630275" y="2017625"/>
            <a:chExt cx="2211900" cy="3594900"/>
          </a:xfrm>
        </p:grpSpPr>
        <p:sp>
          <p:nvSpPr>
            <p:cNvPr id="312" name="Google Shape;312;p17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7"/>
          <p:cNvSpPr/>
          <p:nvPr/>
        </p:nvSpPr>
        <p:spPr>
          <a:xfrm>
            <a:off x="224538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7"/>
          <p:cNvGrpSpPr/>
          <p:nvPr/>
        </p:nvGrpSpPr>
        <p:grpSpPr>
          <a:xfrm>
            <a:off x="2730533" y="2131234"/>
            <a:ext cx="635280" cy="147600"/>
            <a:chOff x="2147366" y="4139382"/>
            <a:chExt cx="635280" cy="147600"/>
          </a:xfrm>
        </p:grpSpPr>
        <p:sp>
          <p:nvSpPr>
            <p:cNvPr id="316" name="Google Shape;316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7"/>
          <p:cNvGrpSpPr/>
          <p:nvPr/>
        </p:nvGrpSpPr>
        <p:grpSpPr>
          <a:xfrm>
            <a:off x="365933" y="2147659"/>
            <a:ext cx="635280" cy="147600"/>
            <a:chOff x="2147366" y="4139382"/>
            <a:chExt cx="635280" cy="147600"/>
          </a:xfrm>
        </p:grpSpPr>
        <p:sp>
          <p:nvSpPr>
            <p:cNvPr id="320" name="Google Shape;320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7"/>
          <p:cNvSpPr txBox="1">
            <a:spLocks noGrp="1"/>
          </p:cNvSpPr>
          <p:nvPr>
            <p:ph type="subTitle" idx="1"/>
          </p:nvPr>
        </p:nvSpPr>
        <p:spPr>
          <a:xfrm>
            <a:off x="316463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4" name="Google Shape;324;p17"/>
          <p:cNvSpPr txBox="1">
            <a:spLocks noGrp="1"/>
          </p:cNvSpPr>
          <p:nvPr>
            <p:ph type="subTitle" idx="2"/>
          </p:nvPr>
        </p:nvSpPr>
        <p:spPr>
          <a:xfrm>
            <a:off x="2706814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2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5" name="Google Shape;325;p17"/>
          <p:cNvSpPr txBox="1">
            <a:spLocks noGrp="1"/>
          </p:cNvSpPr>
          <p:nvPr>
            <p:ph type="subTitle" idx="3"/>
          </p:nvPr>
        </p:nvSpPr>
        <p:spPr>
          <a:xfrm>
            <a:off x="5097166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6" name="Google Shape;326;p17"/>
          <p:cNvSpPr txBox="1">
            <a:spLocks noGrp="1"/>
          </p:cNvSpPr>
          <p:nvPr>
            <p:ph type="subTitle" idx="4"/>
          </p:nvPr>
        </p:nvSpPr>
        <p:spPr>
          <a:xfrm>
            <a:off x="7487518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2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7" name="Google Shape;327;p17"/>
          <p:cNvSpPr txBox="1">
            <a:spLocks noGrp="1"/>
          </p:cNvSpPr>
          <p:nvPr>
            <p:ph type="subTitle" idx="5"/>
          </p:nvPr>
        </p:nvSpPr>
        <p:spPr>
          <a:xfrm>
            <a:off x="9877869" y="2569713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8" name="Google Shape;328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29" name="Google Shape;329;p17"/>
          <p:cNvSpPr txBox="1">
            <a:spLocks noGrp="1"/>
          </p:cNvSpPr>
          <p:nvPr>
            <p:ph type="body" idx="6"/>
          </p:nvPr>
        </p:nvSpPr>
        <p:spPr>
          <a:xfrm>
            <a:off x="31646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0" name="Google Shape;330;p17"/>
          <p:cNvSpPr txBox="1">
            <a:spLocks noGrp="1"/>
          </p:cNvSpPr>
          <p:nvPr>
            <p:ph type="body" idx="7"/>
          </p:nvPr>
        </p:nvSpPr>
        <p:spPr>
          <a:xfrm>
            <a:off x="270681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body" idx="8"/>
          </p:nvPr>
        </p:nvSpPr>
        <p:spPr>
          <a:xfrm>
            <a:off x="509716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2" name="Google Shape;332;p17"/>
          <p:cNvSpPr txBox="1">
            <a:spLocks noGrp="1"/>
          </p:cNvSpPr>
          <p:nvPr>
            <p:ph type="body" idx="9"/>
          </p:nvPr>
        </p:nvSpPr>
        <p:spPr>
          <a:xfrm>
            <a:off x="748751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body" idx="13"/>
          </p:nvPr>
        </p:nvSpPr>
        <p:spPr>
          <a:xfrm>
            <a:off x="9877863" y="3187538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7" r:id="rId5"/>
    <p:sldLayoutId id="2147483661" r:id="rId6"/>
    <p:sldLayoutId id="2147483662" r:id="rId7"/>
    <p:sldLayoutId id="2147483663" r:id="rId8"/>
    <p:sldLayoutId id="2147483666" r:id="rId9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23475" y="1168387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4600" dirty="0" err="1" smtClean="0">
                <a:solidFill>
                  <a:schemeClr val="accent1"/>
                </a:solidFill>
              </a:rPr>
              <a:t>Gradle</a:t>
            </a:r>
            <a:r>
              <a:rPr lang="ru-RU" b="0" dirty="0" smtClean="0"/>
              <a:t> </a:t>
            </a:r>
            <a:br>
              <a:rPr lang="ru-RU" b="0" dirty="0" smtClean="0"/>
            </a:br>
            <a:r>
              <a:rPr lang="ru-RU" sz="5000" dirty="0" smtClean="0"/>
              <a:t>Архитектура</a:t>
            </a:r>
            <a:r>
              <a:rPr lang="ru-RU" sz="5000" dirty="0"/>
              <a:t>, функционал и практика </a:t>
            </a:r>
            <a:r>
              <a:rPr lang="ru-RU" sz="5000" dirty="0" smtClean="0"/>
              <a:t>использования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51813" y="5147936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/>
              <a:t> </a:t>
            </a:r>
            <a:r>
              <a:rPr lang="ru-RU" dirty="0" smtClean="0"/>
              <a:t>Разуваев</a:t>
            </a:r>
            <a:r>
              <a:rPr lang="ru-RU" dirty="0"/>
              <a:t> </a:t>
            </a:r>
            <a:r>
              <a:rPr lang="ru-RU" dirty="0" smtClean="0"/>
              <a:t>В.В. АПИМ-24</a:t>
            </a:r>
            <a:r>
              <a:rPr lang="en" dirty="0" smtClean="0"/>
              <a:t> </a:t>
            </a:r>
            <a:r>
              <a:rPr lang="en" dirty="0" smtClean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1"/>
                </a:solidFill>
              </a:rPr>
              <a:t>p&gt;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В чем</a:t>
            </a:r>
            <a:r>
              <a:rPr lang="en" dirty="0" smtClean="0"/>
              <a:t> </a:t>
            </a:r>
            <a:r>
              <a:rPr lang="ru-RU" dirty="0" smtClean="0"/>
              <a:t>суть </a:t>
            </a:r>
            <a:r>
              <a:rPr lang="ru-RU" sz="4400" dirty="0" smtClean="0">
                <a:solidFill>
                  <a:schemeClr val="accent3"/>
                </a:solidFill>
              </a:rPr>
              <a:t>ПРОБЛЕМЫ</a:t>
            </a:r>
            <a:r>
              <a:rPr lang="en" sz="4400" dirty="0" smtClean="0">
                <a:solidFill>
                  <a:schemeClr val="accent3"/>
                </a:solidFill>
              </a:rPr>
              <a:t>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1201000" y="2305300"/>
            <a:ext cx="936032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b="0" dirty="0">
                <a:solidFill>
                  <a:schemeClr val="accent3"/>
                </a:solidFill>
              </a:rPr>
              <a:t>&lt;p&gt;</a:t>
            </a:r>
            <a:r>
              <a:rPr lang="en" b="0" dirty="0"/>
              <a:t> </a:t>
            </a:r>
            <a:r>
              <a:rPr lang="ru-RU" b="0" dirty="0" smtClean="0"/>
              <a:t>Необходимость </a:t>
            </a:r>
            <a:r>
              <a:rPr lang="ru-RU" b="0" dirty="0"/>
              <a:t>автоматизации повторяющихся задач сборки ПО (компиляция, тестирование, упаковка</a:t>
            </a:r>
            <a:r>
              <a:rPr lang="ru-RU" b="0" dirty="0" smtClean="0"/>
              <a:t>) </a:t>
            </a:r>
            <a:r>
              <a:rPr lang="en" b="0" dirty="0" smtClean="0">
                <a:solidFill>
                  <a:schemeClr val="accent3"/>
                </a:solidFill>
              </a:rPr>
              <a:t>&lt;/</a:t>
            </a:r>
            <a:r>
              <a:rPr lang="en" b="0" dirty="0">
                <a:solidFill>
                  <a:schemeClr val="accent3"/>
                </a:solidFill>
              </a:rPr>
              <a:t>p&gt;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4" name="Google Shape;418;p26"/>
          <p:cNvSpPr txBox="1">
            <a:spLocks/>
          </p:cNvSpPr>
          <p:nvPr/>
        </p:nvSpPr>
        <p:spPr>
          <a:xfrm>
            <a:off x="1201000" y="3527548"/>
            <a:ext cx="936032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</a:pPr>
            <a:r>
              <a:rPr lang="ru-RU" b="0" dirty="0" smtClean="0">
                <a:solidFill>
                  <a:schemeClr val="accent3"/>
                </a:solidFill>
              </a:rPr>
              <a:t>&lt;p&gt;</a:t>
            </a:r>
            <a:r>
              <a:rPr lang="ru-RU" b="0" dirty="0" smtClean="0"/>
              <a:t> </a:t>
            </a:r>
            <a:r>
              <a:rPr lang="ru-RU" dirty="0"/>
              <a:t>Решение:</a:t>
            </a:r>
            <a:r>
              <a:rPr lang="ru-RU" b="0" dirty="0"/>
              <a:t> Системы автоматизации </a:t>
            </a:r>
            <a:r>
              <a:rPr lang="ru-RU" b="0" dirty="0" smtClean="0"/>
              <a:t>сборки </a:t>
            </a:r>
            <a:r>
              <a:rPr lang="ru-RU" b="0" dirty="0" smtClean="0">
                <a:solidFill>
                  <a:schemeClr val="accent3"/>
                </a:solidFill>
              </a:rPr>
              <a:t>&lt;/p&gt;</a:t>
            </a:r>
            <a:endParaRPr lang="ru-RU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26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255500"/>
            <a:ext cx="848526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/>
              <a:t>Что </a:t>
            </a:r>
            <a:r>
              <a:rPr lang="ru-RU" dirty="0" smtClean="0"/>
              <a:t>такое </a:t>
            </a:r>
            <a:r>
              <a:rPr lang="en-US" sz="4400" dirty="0" err="1" smtClean="0">
                <a:solidFill>
                  <a:schemeClr val="accent3"/>
                </a:solidFill>
              </a:rPr>
              <a:t>Gradle</a:t>
            </a:r>
            <a:r>
              <a:rPr lang="en" sz="4400" dirty="0" smtClean="0">
                <a:solidFill>
                  <a:schemeClr val="accent3"/>
                </a:solidFill>
              </a:rPr>
              <a:t>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1201000" y="2113276"/>
            <a:ext cx="9369464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b="0" dirty="0">
                <a:solidFill>
                  <a:schemeClr val="accent3"/>
                </a:solidFill>
              </a:rPr>
              <a:t>&lt;p&gt;</a:t>
            </a:r>
            <a:r>
              <a:rPr lang="en" b="0" dirty="0"/>
              <a:t> </a:t>
            </a:r>
            <a:r>
              <a:rPr lang="ru-RU" b="0" dirty="0"/>
              <a:t>Современная система автоматизации сборки с открытым исходным кодом (</a:t>
            </a:r>
            <a:r>
              <a:rPr lang="ru-RU" b="0" dirty="0" err="1"/>
              <a:t>Apache</a:t>
            </a:r>
            <a:r>
              <a:rPr lang="ru-RU" b="0" dirty="0"/>
              <a:t> 2.0</a:t>
            </a:r>
            <a:r>
              <a:rPr lang="ru-RU" b="0" dirty="0" smtClean="0"/>
              <a:t>) </a:t>
            </a:r>
            <a:r>
              <a:rPr lang="en" b="0" dirty="0" smtClean="0">
                <a:solidFill>
                  <a:schemeClr val="accent3"/>
                </a:solidFill>
              </a:rPr>
              <a:t>&lt;/</a:t>
            </a:r>
            <a:r>
              <a:rPr lang="en" b="0" dirty="0">
                <a:solidFill>
                  <a:schemeClr val="accent3"/>
                </a:solidFill>
              </a:rPr>
              <a:t>p&gt;</a:t>
            </a:r>
            <a:endParaRPr b="0" dirty="0">
              <a:solidFill>
                <a:schemeClr val="accent3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839" y="3133396"/>
            <a:ext cx="5372329" cy="203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8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 txBox="1">
            <a:spLocks noGrp="1"/>
          </p:cNvSpPr>
          <p:nvPr>
            <p:ph type="title"/>
          </p:nvPr>
        </p:nvSpPr>
        <p:spPr>
          <a:xfrm>
            <a:off x="720400" y="3647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/>
              <a:t>Сердце </a:t>
            </a:r>
            <a:r>
              <a:rPr lang="en-US" dirty="0" err="1"/>
              <a:t>Gradle</a:t>
            </a:r>
            <a:r>
              <a:rPr lang="en-US" dirty="0"/>
              <a:t> -</a:t>
            </a:r>
            <a:r>
              <a:rPr lang="ru-RU" dirty="0"/>
              <a:t> </a:t>
            </a:r>
            <a:r>
              <a:rPr lang="ru-RU" sz="4400" dirty="0">
                <a:solidFill>
                  <a:schemeClr val="accent3"/>
                </a:solidFill>
              </a:rPr>
              <a:t>Архитектура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540" name="Google Shape;540;p37"/>
          <p:cNvSpPr txBox="1">
            <a:spLocks noGrp="1"/>
          </p:cNvSpPr>
          <p:nvPr>
            <p:ph type="subTitle" idx="1"/>
          </p:nvPr>
        </p:nvSpPr>
        <p:spPr>
          <a:xfrm>
            <a:off x="1068150" y="239220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Проекты</a:t>
            </a:r>
            <a:endParaRPr dirty="0"/>
          </a:p>
        </p:txBody>
      </p:sp>
      <p:sp>
        <p:nvSpPr>
          <p:cNvPr id="541" name="Google Shape;541;p37"/>
          <p:cNvSpPr txBox="1">
            <a:spLocks noGrp="1"/>
          </p:cNvSpPr>
          <p:nvPr>
            <p:ph type="body" idx="8"/>
          </p:nvPr>
        </p:nvSpPr>
        <p:spPr>
          <a:xfrm>
            <a:off x="8181360" y="4647199"/>
            <a:ext cx="3018000" cy="12794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Запуск без установки, гарантия версии</a:t>
            </a:r>
            <a:endParaRPr dirty="0"/>
          </a:p>
        </p:txBody>
      </p:sp>
      <p:sp>
        <p:nvSpPr>
          <p:cNvPr id="542" name="Google Shape;542;p37"/>
          <p:cNvSpPr txBox="1">
            <a:spLocks noGrp="1"/>
          </p:cNvSpPr>
          <p:nvPr>
            <p:ph type="subTitle" idx="2"/>
          </p:nvPr>
        </p:nvSpPr>
        <p:spPr>
          <a:xfrm>
            <a:off x="1068150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Скрипты сборки</a:t>
            </a:r>
            <a:endParaRPr dirty="0"/>
          </a:p>
        </p:txBody>
      </p:sp>
      <p:sp>
        <p:nvSpPr>
          <p:cNvPr id="543" name="Google Shape;543;p37"/>
          <p:cNvSpPr txBox="1">
            <a:spLocks noGrp="1"/>
          </p:cNvSpPr>
          <p:nvPr>
            <p:ph type="body" idx="13"/>
          </p:nvPr>
        </p:nvSpPr>
        <p:spPr>
          <a:xfrm>
            <a:off x="1068150" y="2818400"/>
            <a:ext cx="3339258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Базовая единица сборки (приложение, библиотека, модуль). Поддержка </a:t>
            </a:r>
            <a:r>
              <a:rPr lang="ru-RU" dirty="0" err="1"/>
              <a:t>мультипроектных</a:t>
            </a:r>
            <a:r>
              <a:rPr lang="ru-RU" dirty="0"/>
              <a:t> сборок.</a:t>
            </a:r>
            <a:endParaRPr dirty="0"/>
          </a:p>
        </p:txBody>
      </p:sp>
      <p:sp>
        <p:nvSpPr>
          <p:cNvPr id="544" name="Google Shape;544;p37"/>
          <p:cNvSpPr txBox="1">
            <a:spLocks noGrp="1"/>
          </p:cNvSpPr>
          <p:nvPr>
            <p:ph type="subTitle" idx="3"/>
          </p:nvPr>
        </p:nvSpPr>
        <p:spPr>
          <a:xfrm>
            <a:off x="8019288" y="239220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 Состояния задач</a:t>
            </a:r>
            <a:endParaRPr dirty="0"/>
          </a:p>
        </p:txBody>
      </p:sp>
      <p:sp>
        <p:nvSpPr>
          <p:cNvPr id="545" name="Google Shape;545;p37"/>
          <p:cNvSpPr txBox="1">
            <a:spLocks noGrp="1"/>
          </p:cNvSpPr>
          <p:nvPr>
            <p:ph type="body" idx="15"/>
          </p:nvPr>
        </p:nvSpPr>
        <p:spPr>
          <a:xfrm>
            <a:off x="1068150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На </a:t>
            </a:r>
            <a:r>
              <a:rPr lang="en-US" dirty="0"/>
              <a:t>Groovy DSL </a:t>
            </a:r>
            <a:r>
              <a:rPr lang="ru-RU" dirty="0"/>
              <a:t>или </a:t>
            </a:r>
            <a:r>
              <a:rPr lang="en-US" dirty="0" err="1"/>
              <a:t>Kotlin</a:t>
            </a:r>
            <a:r>
              <a:rPr lang="en-US" dirty="0"/>
              <a:t> DSL</a:t>
            </a:r>
            <a:endParaRPr dirty="0"/>
          </a:p>
        </p:txBody>
      </p:sp>
      <p:sp>
        <p:nvSpPr>
          <p:cNvPr id="546" name="Google Shape;546;p37"/>
          <p:cNvSpPr txBox="1">
            <a:spLocks noGrp="1"/>
          </p:cNvSpPr>
          <p:nvPr>
            <p:ph type="subTitle" idx="4"/>
          </p:nvPr>
        </p:nvSpPr>
        <p:spPr>
          <a:xfrm>
            <a:off x="4643968" y="240955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Задачи</a:t>
            </a:r>
            <a:endParaRPr dirty="0"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5"/>
          </p:nvPr>
        </p:nvSpPr>
        <p:spPr>
          <a:xfrm>
            <a:off x="4643968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Плагины</a:t>
            </a:r>
            <a:endParaRPr dirty="0"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6"/>
          </p:nvPr>
        </p:nvSpPr>
        <p:spPr>
          <a:xfrm>
            <a:off x="8181360" y="423038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-US" dirty="0" err="1"/>
              <a:t>Gradle</a:t>
            </a:r>
            <a:r>
              <a:rPr lang="en-US" dirty="0"/>
              <a:t> Wrapper</a:t>
            </a:r>
            <a:endParaRPr dirty="0"/>
          </a:p>
        </p:txBody>
      </p:sp>
      <p:sp>
        <p:nvSpPr>
          <p:cNvPr id="549" name="Google Shape;549;p37"/>
          <p:cNvSpPr txBox="1">
            <a:spLocks noGrp="1"/>
          </p:cNvSpPr>
          <p:nvPr>
            <p:ph type="body" idx="7"/>
          </p:nvPr>
        </p:nvSpPr>
        <p:spPr>
          <a:xfrm>
            <a:off x="4643968" y="2818400"/>
            <a:ext cx="337532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Атомарные единицы работы (компиляция, тестирование и т.д.). Формируют </a:t>
            </a:r>
            <a:r>
              <a:rPr lang="ru-RU" b="1" dirty="0"/>
              <a:t>DAG (</a:t>
            </a:r>
            <a:r>
              <a:rPr lang="ru-RU" b="1" dirty="0" err="1"/>
              <a:t>Directed</a:t>
            </a:r>
            <a:r>
              <a:rPr lang="ru-RU" b="1" dirty="0"/>
              <a:t> </a:t>
            </a:r>
            <a:r>
              <a:rPr lang="ru-RU" b="1" dirty="0" err="1"/>
              <a:t>Acyclic</a:t>
            </a:r>
            <a:r>
              <a:rPr lang="ru-RU" b="1" dirty="0"/>
              <a:t> </a:t>
            </a:r>
            <a:r>
              <a:rPr lang="ru-RU" b="1" dirty="0" err="1"/>
              <a:t>Graph</a:t>
            </a:r>
            <a:r>
              <a:rPr lang="ru-RU" b="1" dirty="0"/>
              <a:t>)</a:t>
            </a:r>
            <a:endParaRPr dirty="0"/>
          </a:p>
        </p:txBody>
      </p:sp>
      <p:sp>
        <p:nvSpPr>
          <p:cNvPr id="550" name="Google Shape;550;p37"/>
          <p:cNvSpPr txBox="1">
            <a:spLocks noGrp="1"/>
          </p:cNvSpPr>
          <p:nvPr>
            <p:ph type="body" idx="9"/>
          </p:nvPr>
        </p:nvSpPr>
        <p:spPr>
          <a:xfrm>
            <a:off x="4643968" y="4647200"/>
            <a:ext cx="3256448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dirty="0"/>
              <a:t>Расширяют функционал (</a:t>
            </a:r>
            <a:r>
              <a:rPr lang="ru-RU" dirty="0" err="1"/>
              <a:t>Java</a:t>
            </a:r>
            <a:r>
              <a:rPr lang="ru-RU" dirty="0"/>
              <a:t>, </a:t>
            </a:r>
            <a:r>
              <a:rPr lang="ru-RU" dirty="0" err="1"/>
              <a:t>Android</a:t>
            </a:r>
            <a:r>
              <a:rPr lang="ru-RU" dirty="0"/>
              <a:t>, </a:t>
            </a:r>
            <a:r>
              <a:rPr lang="ru-RU" dirty="0" err="1"/>
              <a:t>Kotlin</a:t>
            </a:r>
            <a:r>
              <a:rPr lang="ru-RU" dirty="0"/>
              <a:t> и др.)</a:t>
            </a:r>
            <a:endParaRPr dirty="0"/>
          </a:p>
        </p:txBody>
      </p:sp>
      <p:sp>
        <p:nvSpPr>
          <p:cNvPr id="551" name="Google Shape;551;p37"/>
          <p:cNvSpPr txBox="1">
            <a:spLocks noGrp="1"/>
          </p:cNvSpPr>
          <p:nvPr>
            <p:ph type="body" idx="14"/>
          </p:nvPr>
        </p:nvSpPr>
        <p:spPr>
          <a:xfrm>
            <a:off x="8181360" y="2818400"/>
            <a:ext cx="334008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en-US" dirty="0"/>
              <a:t>UP-TO-DATE, FROM-CACHE, SKIPPED, NO-SOURCE, EXECUTED (</a:t>
            </a:r>
            <a:r>
              <a:rPr lang="en-US" dirty="0" err="1"/>
              <a:t>ключ</a:t>
            </a:r>
            <a:r>
              <a:rPr lang="en-US" dirty="0"/>
              <a:t> к </a:t>
            </a:r>
            <a:r>
              <a:rPr lang="en-US" dirty="0" err="1"/>
              <a:t>скорости</a:t>
            </a:r>
            <a:r>
              <a:rPr lang="en-US" dirty="0"/>
              <a:t>!)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0"/>
          <p:cNvSpPr txBox="1">
            <a:spLocks noGrp="1"/>
          </p:cNvSpPr>
          <p:nvPr>
            <p:ph type="title"/>
          </p:nvPr>
        </p:nvSpPr>
        <p:spPr>
          <a:xfrm>
            <a:off x="275680" y="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/>
              <a:t>Как работает </a:t>
            </a:r>
            <a:r>
              <a:rPr lang="ru-RU" dirty="0" smtClean="0"/>
              <a:t> </a:t>
            </a:r>
            <a:r>
              <a:rPr lang="en" dirty="0" smtClean="0"/>
              <a:t> </a:t>
            </a:r>
            <a:r>
              <a:rPr lang="en-NZ" sz="6000" dirty="0">
                <a:solidFill>
                  <a:schemeClr val="accent3"/>
                </a:solidFill>
              </a:rPr>
              <a:t>C</a:t>
            </a:r>
            <a:r>
              <a:rPr lang="ru-RU" sz="6000" dirty="0" err="1" smtClean="0">
                <a:solidFill>
                  <a:schemeClr val="accent3"/>
                </a:solidFill>
              </a:rPr>
              <a:t>борка</a:t>
            </a:r>
            <a:r>
              <a:rPr lang="ru-RU" sz="6000" dirty="0" smtClean="0">
                <a:solidFill>
                  <a:schemeClr val="accent3"/>
                </a:solidFill>
              </a:rPr>
              <a:t>?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792" name="Google Shape;792;p40"/>
          <p:cNvSpPr txBox="1">
            <a:spLocks noGrp="1"/>
          </p:cNvSpPr>
          <p:nvPr>
            <p:ph type="subTitle" idx="1"/>
          </p:nvPr>
        </p:nvSpPr>
        <p:spPr>
          <a:xfrm>
            <a:off x="275680" y="2566175"/>
            <a:ext cx="2079265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sz="1800" dirty="0"/>
              <a:t>Инициализация</a:t>
            </a:r>
            <a:endParaRPr sz="1800" dirty="0"/>
          </a:p>
        </p:txBody>
      </p:sp>
      <p:sp>
        <p:nvSpPr>
          <p:cNvPr id="794" name="Google Shape;794;p40"/>
          <p:cNvSpPr txBox="1">
            <a:spLocks noGrp="1"/>
          </p:cNvSpPr>
          <p:nvPr>
            <p:ph type="subTitle" idx="2"/>
          </p:nvPr>
        </p:nvSpPr>
        <p:spPr>
          <a:xfrm>
            <a:off x="2631340" y="2566175"/>
            <a:ext cx="214865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sz="2000" dirty="0"/>
              <a:t>Конфигурация</a:t>
            </a:r>
            <a:endParaRPr sz="2000"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subTitle" idx="3"/>
          </p:nvPr>
        </p:nvSpPr>
        <p:spPr>
          <a:xfrm>
            <a:off x="5097166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/>
              <a:t>Выполнение</a:t>
            </a:r>
            <a:endParaRPr dirty="0"/>
          </a:p>
        </p:txBody>
      </p:sp>
      <p:sp>
        <p:nvSpPr>
          <p:cNvPr id="798" name="Google Shape;798;p40"/>
          <p:cNvSpPr txBox="1">
            <a:spLocks noGrp="1"/>
          </p:cNvSpPr>
          <p:nvPr>
            <p:ph type="subTitle" idx="4"/>
          </p:nvPr>
        </p:nvSpPr>
        <p:spPr>
          <a:xfrm>
            <a:off x="7487518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 smtClean="0"/>
              <a:t>JavaScript</a:t>
            </a:r>
            <a:endParaRPr dirty="0"/>
          </a:p>
        </p:txBody>
      </p:sp>
      <p:sp>
        <p:nvSpPr>
          <p:cNvPr id="799" name="Google Shape;799;p40"/>
          <p:cNvSpPr txBox="1">
            <a:spLocks noGrp="1"/>
          </p:cNvSpPr>
          <p:nvPr>
            <p:ph type="subTitle" idx="5"/>
          </p:nvPr>
        </p:nvSpPr>
        <p:spPr>
          <a:xfrm>
            <a:off x="9877869" y="2569713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 smtClean="0"/>
              <a:t>Python</a:t>
            </a:r>
            <a:endParaRPr dirty="0"/>
          </a:p>
        </p:txBody>
      </p:sp>
      <p:sp>
        <p:nvSpPr>
          <p:cNvPr id="801" name="Google Shape;801;p40"/>
          <p:cNvSpPr txBox="1">
            <a:spLocks noGrp="1"/>
          </p:cNvSpPr>
          <p:nvPr>
            <p:ph type="body" idx="13"/>
          </p:nvPr>
        </p:nvSpPr>
        <p:spPr>
          <a:xfrm>
            <a:off x="9986160" y="3275112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050" dirty="0"/>
              <a:t>p</a:t>
            </a:r>
            <a:r>
              <a:rPr lang="en" sz="1050" dirty="0" smtClean="0"/>
              <a:t>rint(“Hello world”)</a:t>
            </a:r>
            <a:endParaRPr sz="105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593335" y="3275112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100"/>
              </a:spcAft>
            </a:pPr>
            <a:r>
              <a:rPr lang="en-US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n-US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(“</a:t>
            </a:r>
            <a:r>
              <a:rPr lang="en-US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Hello</a:t>
            </a:r>
            <a:r>
              <a:rPr lang="en-US" dirty="0" smtClean="0"/>
              <a:t> </a:t>
            </a:r>
            <a:r>
              <a:rPr lang="en-US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world”)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323945" y="3275112"/>
            <a:ext cx="2028119" cy="12234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Определение 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проектов </a:t>
            </a:r>
            <a:endParaRPr lang="en-NZ" altLang="ru-RU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(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settings.gradle[.kts</a:t>
            </a:r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]</a:t>
            </a:r>
            <a:r>
              <a:rPr lang="en-NZ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)</a:t>
            </a:r>
          </a:p>
          <a:p>
            <a:endParaRPr lang="en-NZ" altLang="ru-RU" sz="1050" dirty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Создание 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объектов </a:t>
            </a:r>
            <a:endParaRPr lang="en-NZ" altLang="ru-RU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проектов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.</a:t>
            </a:r>
          </a:p>
          <a:p>
            <a:pPr lvl="0"/>
            <a:r>
              <a:rPr lang="en-US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  <a:p>
            <a:pPr lvl="0"/>
            <a:endParaRPr lang="en-US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995333" y="3329676"/>
            <a:ext cx="22532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2100"/>
              </a:spcAft>
            </a:pPr>
            <a:r>
              <a:rPr 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Запуск задач в порядке DAG</a:t>
            </a:r>
            <a:r>
              <a:rPr 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.</a:t>
            </a:r>
            <a:endParaRPr lang="ru-RU" sz="1050" dirty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pPr lvl="0">
              <a:spcAft>
                <a:spcPts val="2100"/>
              </a:spcAft>
            </a:pPr>
            <a:r>
              <a:rPr 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Применение оптимизаций (состояния задач, кэширование).</a:t>
            </a:r>
            <a:endParaRPr lang="en-US" sz="1050" dirty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2706814" y="3329676"/>
            <a:ext cx="225320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Анализ 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скриптов сборки (build.gradle[.kts</a:t>
            </a:r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]).</a:t>
            </a:r>
            <a:endParaRPr lang="en-NZ" altLang="ru-RU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pPr lvl="0"/>
            <a:endParaRPr lang="ru-RU" altLang="ru-RU" sz="1050" dirty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Создание и настройка задач</a:t>
            </a:r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.</a:t>
            </a:r>
            <a:endParaRPr lang="en-NZ" altLang="ru-RU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050" dirty="0">
              <a:solidFill>
                <a:schemeClr val="dk2"/>
              </a:solidFill>
              <a:latin typeface="Roboto Mono"/>
              <a:ea typeface="Roboto Mono"/>
              <a:cs typeface="Roboto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050" dirty="0" smtClean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Построение </a:t>
            </a:r>
            <a:r>
              <a:rPr lang="ru-RU" altLang="ru-RU" sz="1050" dirty="0">
                <a:solidFill>
                  <a:schemeClr val="dk2"/>
                </a:solidFill>
                <a:latin typeface="Roboto Mono"/>
                <a:ea typeface="Roboto Mono"/>
                <a:cs typeface="Roboto Mono"/>
              </a:rPr>
              <a:t>графа зависимостей задач (DAG).</a:t>
            </a:r>
          </a:p>
          <a:p>
            <a:pPr lvl="0"/>
            <a:endParaRPr lang="en-US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lvl="0"/>
            <a:endParaRPr lang="en-US" sz="1050" dirty="0" smtClean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-289819"/>
            <a:ext cx="65" cy="579638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79" y="1000935"/>
            <a:ext cx="10841874" cy="5632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191856" y="1081764"/>
            <a:ext cx="9433472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 smtClean="0"/>
              <a:t>Языки </a:t>
            </a:r>
            <a:r>
              <a:rPr lang="ru-RU" dirty="0"/>
              <a:t>описания </a:t>
            </a:r>
            <a:r>
              <a:rPr lang="en-NZ" sz="4400" dirty="0">
                <a:solidFill>
                  <a:schemeClr val="accent3"/>
                </a:solidFill>
              </a:rPr>
              <a:t>C</a:t>
            </a:r>
            <a:r>
              <a:rPr lang="ru-RU" sz="4400" dirty="0" err="1" smtClean="0">
                <a:solidFill>
                  <a:schemeClr val="accent3"/>
                </a:solidFill>
              </a:rPr>
              <a:t>борки</a:t>
            </a:r>
            <a:endParaRPr sz="4400" dirty="0">
              <a:solidFill>
                <a:schemeClr val="accent3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49768"/>
              </p:ext>
            </p:extLst>
          </p:nvPr>
        </p:nvGraphicFramePr>
        <p:xfrm>
          <a:off x="1883663" y="1989744"/>
          <a:ext cx="6912865" cy="3435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1057">
                  <a:extLst>
                    <a:ext uri="{9D8B030D-6E8A-4147-A177-3AD203B41FA5}">
                      <a16:colId xmlns:a16="http://schemas.microsoft.com/office/drawing/2014/main" val="3084110384"/>
                    </a:ext>
                  </a:extLst>
                </a:gridCol>
                <a:gridCol w="2648726">
                  <a:extLst>
                    <a:ext uri="{9D8B030D-6E8A-4147-A177-3AD203B41FA5}">
                      <a16:colId xmlns:a16="http://schemas.microsoft.com/office/drawing/2014/main" val="268094019"/>
                    </a:ext>
                  </a:extLst>
                </a:gridCol>
                <a:gridCol w="2673082">
                  <a:extLst>
                    <a:ext uri="{9D8B030D-6E8A-4147-A177-3AD203B41FA5}">
                      <a16:colId xmlns:a16="http://schemas.microsoft.com/office/drawing/2014/main" val="615921706"/>
                    </a:ext>
                  </a:extLst>
                </a:gridCol>
              </a:tblGrid>
              <a:tr h="215865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Таблица №1, Сравнение </a:t>
                      </a:r>
                      <a:r>
                        <a:rPr lang="ru-RU" sz="1000" dirty="0" err="1">
                          <a:effectLst/>
                        </a:rPr>
                        <a:t>Groovy</a:t>
                      </a:r>
                      <a:r>
                        <a:rPr lang="ru-RU" sz="1000" dirty="0">
                          <a:effectLst/>
                        </a:rPr>
                        <a:t> DSL и </a:t>
                      </a:r>
                      <a:r>
                        <a:rPr lang="ru-RU" sz="1000" dirty="0" err="1">
                          <a:effectLst/>
                        </a:rPr>
                        <a:t>Kotlin</a:t>
                      </a:r>
                      <a:r>
                        <a:rPr lang="ru-RU" sz="1000" dirty="0">
                          <a:effectLst/>
                        </a:rPr>
                        <a:t> DSL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6955"/>
                  </a:ext>
                </a:extLst>
              </a:tr>
              <a:tr h="22465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Характеристика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>
                    <a:solidFill>
                      <a:srgbClr val="B9D4B4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 err="1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Groovy</a:t>
                      </a:r>
                      <a:r>
                        <a:rPr lang="ru-RU" sz="1050" b="0" i="0" u="none" strike="noStrike" cap="none" dirty="0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DSL</a:t>
                      </a:r>
                    </a:p>
                  </a:txBody>
                  <a:tcPr marL="48319" marR="48319" marT="0" marB="0" anchor="ctr">
                    <a:solidFill>
                      <a:srgbClr val="B9D4B4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 err="1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Kotlin</a:t>
                      </a:r>
                      <a:r>
                        <a:rPr lang="ru-RU" sz="1050" b="0" i="0" u="none" strike="noStrike" cap="none" dirty="0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DSL</a:t>
                      </a:r>
                    </a:p>
                  </a:txBody>
                  <a:tcPr marL="48319" marR="48319" marT="0" marB="0" anchor="ctr">
                    <a:solidFill>
                      <a:srgbClr val="B9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94981"/>
                  </a:ext>
                </a:extLst>
              </a:tr>
              <a:tr h="22465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Типизация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Динамическая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Статическая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44146"/>
                  </a:ext>
                </a:extLst>
              </a:tr>
              <a:tr h="43172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Поддержка IDE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Ограниченная,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автодополнение</a:t>
                      </a: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менее точное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Полная, с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автодополнением</a:t>
                      </a: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и навигацией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411222"/>
                  </a:ext>
                </a:extLst>
              </a:tr>
              <a:tr h="336982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Читаемость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Более гибкий и лаконичный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Более строгий, но ясный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371422"/>
                  </a:ext>
                </a:extLst>
              </a:tr>
              <a:tr h="43172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Производительность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Быстрее компиляция скриптов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Медленнее компиляция, но кэшируется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926837"/>
                  </a:ext>
                </a:extLst>
              </a:tr>
              <a:tr h="647594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Ошибки во время выполнения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Возможны из-за динамической типизации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Меньше ошибок благодаря проверкам на этапе компиляции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200791"/>
                  </a:ext>
                </a:extLst>
              </a:tr>
              <a:tr h="43172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Поддержка и популярность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Традиционный, но снижается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Растущая популярность, особенно в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Android</a:t>
                      </a:r>
                      <a:endParaRPr lang="ru-RU" sz="1050" b="0" i="0" u="none" strike="noStrike" cap="none" dirty="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Arial"/>
                      </a:endParaRP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981034"/>
                  </a:ext>
                </a:extLst>
              </a:tr>
              <a:tr h="449310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Возможности расширения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8319" marR="48319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Высокие, благодаря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метапрограммированию</a:t>
                      </a:r>
                      <a:endParaRPr lang="ru-RU" sz="1050" b="0" i="0" u="none" strike="noStrike" cap="none" dirty="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Arial"/>
                      </a:endParaRPr>
                    </a:p>
                  </a:txBody>
                  <a:tcPr marL="48319" marR="48319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Высокие, с использованием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Kotlin</a:t>
                      </a: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</a:t>
                      </a:r>
                      <a:r>
                        <a:rPr lang="ru-RU" sz="105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extension</a:t>
                      </a:r>
                      <a:r>
                        <a:rPr lang="ru-RU" sz="105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функций</a:t>
                      </a:r>
                    </a:p>
                  </a:txBody>
                  <a:tcPr marL="48319" marR="48319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85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27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>
            <a:spLocks noGrp="1"/>
          </p:cNvSpPr>
          <p:nvPr>
            <p:ph type="title"/>
          </p:nvPr>
        </p:nvSpPr>
        <p:spPr>
          <a:xfrm>
            <a:off x="3506900" y="2041675"/>
            <a:ext cx="73455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6800" dirty="0" smtClean="0">
                <a:solidFill>
                  <a:schemeClr val="accent1"/>
                </a:solidFill>
              </a:rPr>
              <a:t>Ключевые</a:t>
            </a:r>
            <a:r>
              <a:rPr lang="en" sz="5800" dirty="0" smtClean="0"/>
              <a:t> </a:t>
            </a:r>
            <a:r>
              <a:rPr lang="ru-RU" dirty="0"/>
              <a:t>возможности</a:t>
            </a:r>
            <a:endParaRPr sz="5800" dirty="0"/>
          </a:p>
        </p:txBody>
      </p:sp>
      <p:sp>
        <p:nvSpPr>
          <p:cNvPr id="412" name="Google Shape;412;p25"/>
          <p:cNvSpPr/>
          <p:nvPr/>
        </p:nvSpPr>
        <p:spPr>
          <a:xfrm>
            <a:off x="1663550" y="2130577"/>
            <a:ext cx="1627849" cy="14860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1"/>
                </a:solidFill>
                <a:latin typeface="Roboto Mono"/>
              </a:rPr>
              <a:t>01</a:t>
            </a:r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"/>
          <p:cNvSpPr txBox="1">
            <a:spLocks noGrp="1"/>
          </p:cNvSpPr>
          <p:nvPr>
            <p:ph type="title"/>
          </p:nvPr>
        </p:nvSpPr>
        <p:spPr>
          <a:xfrm>
            <a:off x="467833" y="593375"/>
            <a:ext cx="10452267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6000" dirty="0">
                <a:solidFill>
                  <a:schemeClr val="accent2"/>
                </a:solidFill>
              </a:rPr>
              <a:t>Ключевые</a:t>
            </a:r>
            <a:r>
              <a:rPr lang="ru-RU" dirty="0"/>
              <a:t> возможности</a:t>
            </a:r>
            <a:endParaRPr lang="ru-RU" sz="6000" dirty="0">
              <a:solidFill>
                <a:schemeClr val="accent2"/>
              </a:solidFill>
            </a:endParaRPr>
          </a:p>
        </p:txBody>
      </p:sp>
      <p:sp>
        <p:nvSpPr>
          <p:cNvPr id="571" name="Google Shape;571;p39"/>
          <p:cNvSpPr txBox="1">
            <a:spLocks noGrp="1"/>
          </p:cNvSpPr>
          <p:nvPr>
            <p:ph type="subTitle" idx="1"/>
          </p:nvPr>
        </p:nvSpPr>
        <p:spPr>
          <a:xfrm>
            <a:off x="8293395" y="2415775"/>
            <a:ext cx="353001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 smtClean="0"/>
              <a:t>Возможности</a:t>
            </a:r>
            <a:endParaRPr lang="ru-RU" dirty="0"/>
          </a:p>
        </p:txBody>
      </p:sp>
      <p:sp>
        <p:nvSpPr>
          <p:cNvPr id="785" name="Google Shape;785;p39"/>
          <p:cNvSpPr txBox="1">
            <a:spLocks noGrp="1"/>
          </p:cNvSpPr>
          <p:nvPr>
            <p:ph type="body" idx="3"/>
          </p:nvPr>
        </p:nvSpPr>
        <p:spPr>
          <a:xfrm>
            <a:off x="8454700" y="2851775"/>
            <a:ext cx="32310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ru-RU" b="1" dirty="0"/>
              <a:t>У</a:t>
            </a:r>
            <a:r>
              <a:rPr lang="ru-RU" b="1" dirty="0" smtClean="0"/>
              <a:t>правление </a:t>
            </a:r>
            <a:r>
              <a:rPr lang="ru-RU" b="1" dirty="0" err="1"/>
              <a:t>зависимостями:</a:t>
            </a:r>
            <a:r>
              <a:rPr lang="ru-RU" altLang="ru-RU" b="1" dirty="0" err="1"/>
              <a:t>Репозитории</a:t>
            </a:r>
            <a:r>
              <a:rPr lang="ru-RU" altLang="ru-RU" b="1" dirty="0"/>
              <a:t> (</a:t>
            </a:r>
            <a:r>
              <a:rPr lang="ru-RU" altLang="ru-RU" b="1" dirty="0" err="1"/>
              <a:t>Maven</a:t>
            </a:r>
            <a:r>
              <a:rPr lang="ru-RU" altLang="ru-RU" b="1" dirty="0"/>
              <a:t> </a:t>
            </a:r>
            <a:r>
              <a:rPr lang="ru-RU" altLang="ru-RU" b="1" dirty="0" err="1"/>
              <a:t>Central</a:t>
            </a:r>
            <a:r>
              <a:rPr lang="ru-RU" altLang="ru-RU" b="1" dirty="0"/>
              <a:t>), конфигурации (</a:t>
            </a:r>
            <a:r>
              <a:rPr lang="ru-RU" altLang="ru-RU" b="1" dirty="0" err="1"/>
              <a:t>implementation</a:t>
            </a:r>
            <a:r>
              <a:rPr lang="ru-RU" altLang="ru-RU" b="1" dirty="0"/>
              <a:t>, </a:t>
            </a:r>
            <a:r>
              <a:rPr lang="ru-RU" altLang="ru-RU" b="1" dirty="0" err="1"/>
              <a:t>api</a:t>
            </a:r>
            <a:r>
              <a:rPr lang="ru-RU" altLang="ru-RU" b="1" dirty="0"/>
              <a:t>, </a:t>
            </a:r>
            <a:r>
              <a:rPr lang="ru-RU" altLang="ru-RU" b="1" dirty="0" err="1"/>
              <a:t>testImplementation</a:t>
            </a:r>
            <a:r>
              <a:rPr lang="ru-RU" altLang="ru-RU" b="1" dirty="0"/>
              <a:t>), транзитивность </a:t>
            </a:r>
          </a:p>
          <a:p>
            <a:pPr marL="285750" lvl="0" indent="-285750">
              <a:buFontTx/>
              <a:buChar char="-"/>
            </a:pPr>
            <a:r>
              <a:rPr lang="ru-RU" b="1" dirty="0" smtClean="0"/>
              <a:t>Инкрементальная </a:t>
            </a:r>
            <a:r>
              <a:rPr lang="ru-RU" b="1" dirty="0"/>
              <a:t>сборка</a:t>
            </a:r>
            <a:endParaRPr lang="ru-RU" b="1" dirty="0" smtClean="0"/>
          </a:p>
          <a:p>
            <a:pPr marL="285750" lvl="0" indent="-285750">
              <a:buFontTx/>
              <a:buChar char="-"/>
            </a:pPr>
            <a:r>
              <a:rPr lang="ru-RU" b="1" dirty="0" smtClean="0"/>
              <a:t>Кэширование сборки</a:t>
            </a:r>
          </a:p>
          <a:p>
            <a:pPr marL="285750" lvl="0" indent="-285750">
              <a:buFontTx/>
              <a:buChar char="-"/>
            </a:pPr>
            <a:r>
              <a:rPr lang="ru-RU" b="1" dirty="0"/>
              <a:t>Параллельное </a:t>
            </a:r>
            <a:r>
              <a:rPr lang="ru-RU" b="1" dirty="0" smtClean="0"/>
              <a:t>выполнение</a:t>
            </a:r>
          </a:p>
          <a:p>
            <a:pPr marL="285750" lvl="0" indent="-285750">
              <a:buFontTx/>
              <a:buChar char="-"/>
            </a:pPr>
            <a:r>
              <a:rPr lang="ru-RU" b="1" dirty="0" smtClean="0"/>
              <a:t>Плагины</a:t>
            </a:r>
            <a:endParaRPr lang="en-US" dirty="0"/>
          </a:p>
        </p:txBody>
      </p:sp>
      <p:pic>
        <p:nvPicPr>
          <p:cNvPr id="3086" name="Picture 14" descr="Пазл Png Изображения – скачать бесплатно на Freepik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746" y="3146089"/>
            <a:ext cx="2771952" cy="184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47" y="3055889"/>
            <a:ext cx="3990494" cy="202712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876" y="4882714"/>
            <a:ext cx="1267692" cy="56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8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>
            <a:spLocks noGrp="1"/>
          </p:cNvSpPr>
          <p:nvPr>
            <p:ph type="title" idx="5"/>
          </p:nvPr>
        </p:nvSpPr>
        <p:spPr>
          <a:xfrm>
            <a:off x="950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06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4" name="Google Shape;394;p24"/>
          <p:cNvSpPr txBox="1">
            <a:spLocks noGrp="1"/>
          </p:cNvSpPr>
          <p:nvPr>
            <p:ph type="title"/>
          </p:nvPr>
        </p:nvSpPr>
        <p:spPr>
          <a:xfrm>
            <a:off x="459775" y="459074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 smtClean="0"/>
              <a:t>Области</a:t>
            </a:r>
            <a:r>
              <a:rPr lang="en-US" dirty="0" smtClean="0"/>
              <a:t> </a:t>
            </a:r>
            <a:r>
              <a:rPr lang="ru-RU" sz="6000" dirty="0">
                <a:solidFill>
                  <a:schemeClr val="accent2"/>
                </a:solidFill>
              </a:rPr>
              <a:t>П</a:t>
            </a:r>
            <a:r>
              <a:rPr lang="ru-RU" sz="6000" dirty="0" smtClean="0">
                <a:solidFill>
                  <a:schemeClr val="accent2"/>
                </a:solidFill>
              </a:rPr>
              <a:t>рименения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395" name="Google Shape;395;p24"/>
          <p:cNvSpPr txBox="1">
            <a:spLocks noGrp="1"/>
          </p:cNvSpPr>
          <p:nvPr>
            <p:ph type="body" idx="1"/>
          </p:nvPr>
        </p:nvSpPr>
        <p:spPr>
          <a:xfrm>
            <a:off x="459775" y="2318701"/>
            <a:ext cx="3647033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 err="1"/>
              <a:t>Java</a:t>
            </a:r>
            <a:r>
              <a:rPr lang="ru-RU" dirty="0"/>
              <a:t> / JVM проекты </a:t>
            </a:r>
            <a:r>
              <a:rPr lang="ru-RU" dirty="0">
                <a:solidFill>
                  <a:schemeClr val="accent1"/>
                </a:solidFill>
              </a:rPr>
              <a:t>(библиотеки, приложения</a:t>
            </a:r>
            <a:r>
              <a:rPr lang="ru-RU" dirty="0" smtClean="0">
                <a:solidFill>
                  <a:schemeClr val="accent1"/>
                </a:solidFill>
              </a:rPr>
              <a:t>)</a:t>
            </a:r>
            <a:endParaRPr dirty="0"/>
          </a:p>
        </p:txBody>
      </p:sp>
      <p:sp>
        <p:nvSpPr>
          <p:cNvPr id="396" name="Google Shape;396;p24"/>
          <p:cNvSpPr txBox="1">
            <a:spLocks noGrp="1"/>
          </p:cNvSpPr>
          <p:nvPr>
            <p:ph type="body" idx="2"/>
          </p:nvPr>
        </p:nvSpPr>
        <p:spPr>
          <a:xfrm>
            <a:off x="4418612" y="2437574"/>
            <a:ext cx="3362931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Android</a:t>
            </a:r>
            <a:r>
              <a:rPr lang="en-US" b="1" dirty="0"/>
              <a:t>-</a:t>
            </a:r>
            <a:r>
              <a:rPr lang="ru-RU" b="1" dirty="0" smtClean="0"/>
              <a:t>разработка</a:t>
            </a:r>
            <a:endParaRPr dirty="0"/>
          </a:p>
        </p:txBody>
      </p:sp>
      <p:sp>
        <p:nvSpPr>
          <p:cNvPr id="397" name="Google Shape;397;p24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>
                <a:solidFill>
                  <a:schemeClr val="accent1"/>
                </a:solidFill>
              </a:rPr>
              <a:t>Веб-разработка</a:t>
            </a:r>
            <a:r>
              <a:rPr lang="ru-RU" dirty="0"/>
              <a:t>, автоматизация </a:t>
            </a:r>
            <a:r>
              <a:rPr lang="ru-RU" dirty="0" smtClean="0"/>
              <a:t>задач</a:t>
            </a:r>
            <a:endParaRPr dirty="0"/>
          </a:p>
        </p:txBody>
      </p:sp>
      <p:sp>
        <p:nvSpPr>
          <p:cNvPr id="398" name="Google Shape;398;p24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Интеграция с </a:t>
            </a:r>
            <a:r>
              <a:rPr lang="en-US" dirty="0" smtClean="0">
                <a:solidFill>
                  <a:schemeClr val="accent3"/>
                </a:solidFill>
              </a:rPr>
              <a:t>CI/CD</a:t>
            </a:r>
            <a:endParaRPr dirty="0"/>
          </a:p>
        </p:txBody>
      </p:sp>
      <p:sp>
        <p:nvSpPr>
          <p:cNvPr id="399" name="Google Shape;399;p24"/>
          <p:cNvSpPr txBox="1">
            <a:spLocks noGrp="1"/>
          </p:cNvSpPr>
          <p:nvPr>
            <p:ph type="title" idx="5"/>
          </p:nvPr>
        </p:nvSpPr>
        <p:spPr>
          <a:xfrm>
            <a:off x="18070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0" name="Google Shape;400;p24"/>
          <p:cNvSpPr txBox="1">
            <a:spLocks noGrp="1"/>
          </p:cNvSpPr>
          <p:nvPr>
            <p:ph type="body" idx="9"/>
          </p:nvPr>
        </p:nvSpPr>
        <p:spPr>
          <a:xfrm>
            <a:off x="8148190" y="2395975"/>
            <a:ext cx="3596969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Крупные </a:t>
            </a:r>
            <a:r>
              <a:rPr lang="ru-RU" dirty="0" err="1" smtClean="0">
                <a:solidFill>
                  <a:schemeClr val="accent2"/>
                </a:solidFill>
              </a:rPr>
              <a:t>мультипроектные</a:t>
            </a:r>
            <a:r>
              <a:rPr lang="ru-RU" b="1" dirty="0" smtClean="0"/>
              <a:t> </a:t>
            </a:r>
            <a:r>
              <a:rPr lang="ru-RU" b="1" dirty="0"/>
              <a:t>/ многомодульные</a:t>
            </a:r>
            <a:r>
              <a:rPr lang="ru-RU" dirty="0"/>
              <a:t> </a:t>
            </a:r>
            <a:r>
              <a:rPr lang="ru-RU" dirty="0" smtClean="0"/>
              <a:t>системы</a:t>
            </a:r>
            <a:endParaRPr dirty="0"/>
          </a:p>
        </p:txBody>
      </p:sp>
      <p:sp>
        <p:nvSpPr>
          <p:cNvPr id="401" name="Google Shape;401;p24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 err="1"/>
              <a:t>Нативная</a:t>
            </a:r>
            <a:r>
              <a:rPr lang="ru-RU" dirty="0"/>
              <a:t> разработка </a:t>
            </a:r>
            <a:r>
              <a:rPr lang="ru-RU" dirty="0">
                <a:solidFill>
                  <a:schemeClr val="accent2"/>
                </a:solidFill>
              </a:rPr>
              <a:t>(</a:t>
            </a:r>
            <a:r>
              <a:rPr lang="en-US" dirty="0">
                <a:solidFill>
                  <a:schemeClr val="accent2"/>
                </a:solidFill>
              </a:rPr>
              <a:t>C/C++, </a:t>
            </a:r>
            <a:r>
              <a:rPr lang="en-US" dirty="0" smtClean="0">
                <a:solidFill>
                  <a:schemeClr val="accent2"/>
                </a:solidFill>
              </a:rPr>
              <a:t>Swift)</a:t>
            </a:r>
            <a:endParaRPr dirty="0"/>
          </a:p>
        </p:txBody>
      </p:sp>
      <p:sp>
        <p:nvSpPr>
          <p:cNvPr id="402" name="Google Shape;402;p24"/>
          <p:cNvSpPr txBox="1">
            <a:spLocks noGrp="1"/>
          </p:cNvSpPr>
          <p:nvPr>
            <p:ph type="title" idx="5"/>
          </p:nvPr>
        </p:nvSpPr>
        <p:spPr>
          <a:xfrm>
            <a:off x="569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5"/>
          </p:nvPr>
        </p:nvSpPr>
        <p:spPr>
          <a:xfrm>
            <a:off x="950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03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04" name="Google Shape;404;p24"/>
          <p:cNvSpPr txBox="1">
            <a:spLocks noGrp="1"/>
          </p:cNvSpPr>
          <p:nvPr>
            <p:ph type="title" idx="5"/>
          </p:nvPr>
        </p:nvSpPr>
        <p:spPr>
          <a:xfrm>
            <a:off x="180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5" name="Google Shape;405;p24"/>
          <p:cNvSpPr txBox="1">
            <a:spLocks noGrp="1"/>
          </p:cNvSpPr>
          <p:nvPr>
            <p:ph type="title" idx="5"/>
          </p:nvPr>
        </p:nvSpPr>
        <p:spPr>
          <a:xfrm>
            <a:off x="569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/>
              <a:t>Сильные </a:t>
            </a:r>
            <a:r>
              <a:rPr lang="ru-RU" dirty="0" smtClean="0"/>
              <a:t>стороны </a:t>
            </a:r>
            <a:r>
              <a:rPr lang="en-US" sz="6000" dirty="0" err="1" smtClean="0">
                <a:solidFill>
                  <a:schemeClr val="accent2"/>
                </a:solidFill>
              </a:rPr>
              <a:t>Gradle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3"/>
                </a:solidFill>
              </a:rPr>
              <a:t>&lt;p&gt; </a:t>
            </a:r>
            <a:r>
              <a:rPr lang="ru-RU" b="1" dirty="0"/>
              <a:t>Гибкость и </a:t>
            </a:r>
            <a:r>
              <a:rPr lang="ru-RU" b="1" dirty="0" err="1"/>
              <a:t>Настраиваемость</a:t>
            </a:r>
            <a:r>
              <a:rPr lang="en" dirty="0" smtClean="0"/>
              <a:t>. </a:t>
            </a:r>
            <a:r>
              <a:rPr lang="en" dirty="0">
                <a:solidFill>
                  <a:schemeClr val="accent3"/>
                </a:solidFill>
              </a:rPr>
              <a:t>&lt;/p&gt;</a:t>
            </a:r>
            <a:endParaRPr dirty="0"/>
          </a:p>
        </p:txBody>
      </p:sp>
      <p:sp>
        <p:nvSpPr>
          <p:cNvPr id="442" name="Google Shape;442;p29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Инкрементальная сборка + Кэширование + Параллелизм = </a:t>
            </a:r>
            <a:r>
              <a:rPr lang="ru-RU" b="1" dirty="0"/>
              <a:t>Значительное ускорение</a:t>
            </a:r>
            <a:r>
              <a:rPr lang="ru-RU" dirty="0"/>
              <a:t> (особенно в больших проектах/CI).</a:t>
            </a:r>
            <a:r>
              <a:rPr lang="en" dirty="0" smtClean="0"/>
              <a:t>.</a:t>
            </a:r>
            <a:endParaRPr dirty="0"/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2"/>
                </a:solidFill>
              </a:rPr>
              <a:t>&lt;p&gt; </a:t>
            </a:r>
            <a:r>
              <a:rPr lang="ru-RU" b="1" dirty="0"/>
              <a:t>Производительность</a:t>
            </a:r>
            <a:r>
              <a:rPr lang="en" dirty="0" smtClean="0"/>
              <a:t>. </a:t>
            </a:r>
            <a:r>
              <a:rPr lang="en" dirty="0">
                <a:solidFill>
                  <a:schemeClr val="accent2"/>
                </a:solidFill>
              </a:rPr>
              <a:t>&lt;/p&gt;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4" name="Google Shape;444;p29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en-US" dirty="0" err="1"/>
              <a:t>Gradle</a:t>
            </a:r>
            <a:r>
              <a:rPr lang="en-US" dirty="0"/>
              <a:t> Inc. + </a:t>
            </a:r>
            <a:r>
              <a:rPr lang="ru-RU" dirty="0"/>
              <a:t>Сообщество. Интеграция с </a:t>
            </a:r>
            <a:r>
              <a:rPr lang="en-US" dirty="0"/>
              <a:t>IDE (IntelliJ, Android Studio) </a:t>
            </a:r>
            <a:r>
              <a:rPr lang="ru-RU" dirty="0"/>
              <a:t>и </a:t>
            </a:r>
            <a:r>
              <a:rPr lang="en-US" dirty="0"/>
              <a:t>CI/CD</a:t>
            </a:r>
            <a:endParaRPr dirty="0"/>
          </a:p>
        </p:txBody>
      </p:sp>
      <p:sp>
        <p:nvSpPr>
          <p:cNvPr id="445" name="Google Shape;445;p29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ru-RU" b="1" dirty="0"/>
              <a:t>Активное развитие и </a:t>
            </a:r>
            <a:r>
              <a:rPr lang="ru-RU" b="1" dirty="0" smtClean="0"/>
              <a:t>экосистема </a:t>
            </a:r>
            <a:r>
              <a:rPr lang="en" dirty="0" smtClean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1"/>
                </a:solidFill>
              </a:rPr>
              <a:t>p&gt;</a:t>
            </a:r>
            <a:endParaRPr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/>
              <a:t>Мощные DSL, </a:t>
            </a:r>
            <a:r>
              <a:rPr lang="ru-RU" dirty="0" err="1"/>
              <a:t>кастомные</a:t>
            </a:r>
            <a:r>
              <a:rPr lang="ru-RU" dirty="0"/>
              <a:t> задачи/плагины. Адаптация под любые нужды.</a:t>
            </a:r>
            <a:r>
              <a:rPr lang="en" dirty="0" smtClean="0"/>
              <a:t>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/>
              <a:t>Критика и </a:t>
            </a:r>
            <a:r>
              <a:rPr lang="ru-RU" dirty="0" smtClean="0"/>
              <a:t>сложности </a:t>
            </a:r>
            <a:r>
              <a:rPr lang="en-US" sz="6000" dirty="0" err="1" smtClean="0">
                <a:solidFill>
                  <a:schemeClr val="accent2"/>
                </a:solidFill>
              </a:rPr>
              <a:t>Gradle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3"/>
                </a:solidFill>
              </a:rPr>
              <a:t>&lt;p&gt; </a:t>
            </a:r>
            <a:r>
              <a:rPr lang="ru-RU" b="1" dirty="0"/>
              <a:t>Крутая кривая обучения</a:t>
            </a:r>
            <a:r>
              <a:rPr lang="en" dirty="0" smtClean="0"/>
              <a:t>. </a:t>
            </a:r>
            <a:r>
              <a:rPr lang="en" dirty="0">
                <a:solidFill>
                  <a:schemeClr val="accent3"/>
                </a:solidFill>
              </a:rPr>
              <a:t>&lt;/p&gt;</a:t>
            </a:r>
            <a:endParaRPr dirty="0"/>
          </a:p>
        </p:txBody>
      </p:sp>
      <p:sp>
        <p:nvSpPr>
          <p:cNvPr id="442" name="Google Shape;442;p29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Громоздкие 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traces</a:t>
            </a:r>
            <a:r>
              <a:rPr lang="ru-RU" dirty="0"/>
              <a:t>, динамика </a:t>
            </a:r>
            <a:r>
              <a:rPr lang="ru-RU" dirty="0" err="1"/>
              <a:t>Groovy</a:t>
            </a:r>
            <a:r>
              <a:rPr lang="ru-RU" dirty="0"/>
              <a:t> мешает IDE, "тихие" ошибки. Конфликты плагинов/зависимостей.</a:t>
            </a:r>
            <a:endParaRPr dirty="0"/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2"/>
                </a:solidFill>
              </a:rPr>
              <a:t>&lt;p&gt; </a:t>
            </a:r>
            <a:r>
              <a:rPr lang="ru-RU" b="1" dirty="0"/>
              <a:t>Сложность отладки</a:t>
            </a:r>
            <a:r>
              <a:rPr lang="en" dirty="0" smtClean="0"/>
              <a:t>. </a:t>
            </a:r>
            <a:r>
              <a:rPr lang="en" dirty="0">
                <a:solidFill>
                  <a:schemeClr val="accent2"/>
                </a:solidFill>
              </a:rPr>
              <a:t>&lt;/p&gt;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4" name="Google Shape;444;p29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 err="1"/>
              <a:t>Maven</a:t>
            </a:r>
            <a:r>
              <a:rPr lang="ru-RU" dirty="0"/>
              <a:t> может быть проще для тривиальных задач без </a:t>
            </a:r>
            <a:r>
              <a:rPr lang="ru-RU" dirty="0" err="1"/>
              <a:t>кастомизации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445" name="Google Shape;445;p29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ru-RU" b="1" dirty="0"/>
              <a:t>Избыточность для простых </a:t>
            </a:r>
            <a:r>
              <a:rPr lang="ru-RU" b="1" dirty="0" smtClean="0"/>
              <a:t>проектов </a:t>
            </a:r>
            <a:r>
              <a:rPr lang="en" dirty="0" smtClean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1"/>
                </a:solidFill>
              </a:rPr>
              <a:t>p&gt;</a:t>
            </a:r>
            <a:endParaRPr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  <a:buNone/>
            </a:pPr>
            <a:r>
              <a:rPr lang="ru-RU" dirty="0" smtClean="0"/>
              <a:t>Много </a:t>
            </a:r>
            <a:r>
              <a:rPr lang="ru-RU" dirty="0"/>
              <a:t>концепций (проекты, задачи, DAG, конфигурации, плагины, DSL). Сложнее начать, чем с </a:t>
            </a:r>
            <a:r>
              <a:rPr lang="ru-RU" dirty="0" err="1"/>
              <a:t>Maven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219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191856" y="1081764"/>
            <a:ext cx="9433472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4400" dirty="0" err="1">
                <a:solidFill>
                  <a:schemeClr val="accent2"/>
                </a:solidFill>
              </a:rPr>
              <a:t>Gradle</a:t>
            </a:r>
            <a:r>
              <a:rPr lang="en-US" dirty="0"/>
              <a:t> vs </a:t>
            </a:r>
            <a:r>
              <a:rPr lang="en-US" sz="4400" dirty="0" smtClean="0">
                <a:solidFill>
                  <a:schemeClr val="accent3"/>
                </a:solidFill>
              </a:rPr>
              <a:t>Maven</a:t>
            </a:r>
            <a:endParaRPr sz="4400" dirty="0">
              <a:solidFill>
                <a:schemeClr val="accent3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02040"/>
              </p:ext>
            </p:extLst>
          </p:nvPr>
        </p:nvGraphicFramePr>
        <p:xfrm>
          <a:off x="1191856" y="2034863"/>
          <a:ext cx="8839113" cy="30949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4576">
                  <a:extLst>
                    <a:ext uri="{9D8B030D-6E8A-4147-A177-3AD203B41FA5}">
                      <a16:colId xmlns:a16="http://schemas.microsoft.com/office/drawing/2014/main" val="3050165949"/>
                    </a:ext>
                  </a:extLst>
                </a:gridCol>
                <a:gridCol w="3627588">
                  <a:extLst>
                    <a:ext uri="{9D8B030D-6E8A-4147-A177-3AD203B41FA5}">
                      <a16:colId xmlns:a16="http://schemas.microsoft.com/office/drawing/2014/main" val="2064204227"/>
                    </a:ext>
                  </a:extLst>
                </a:gridCol>
                <a:gridCol w="2946949">
                  <a:extLst>
                    <a:ext uri="{9D8B030D-6E8A-4147-A177-3AD203B41FA5}">
                      <a16:colId xmlns:a16="http://schemas.microsoft.com/office/drawing/2014/main" val="2004653698"/>
                    </a:ext>
                  </a:extLst>
                </a:gridCol>
              </a:tblGrid>
              <a:tr h="295416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Таблица №2, Сравнение </a:t>
                      </a:r>
                      <a:r>
                        <a:rPr lang="ru-RU" sz="1400" dirty="0" err="1">
                          <a:effectLst/>
                        </a:rPr>
                        <a:t>Gradle</a:t>
                      </a:r>
                      <a:r>
                        <a:rPr lang="ru-RU" sz="1400" dirty="0">
                          <a:effectLst/>
                        </a:rPr>
                        <a:t> и </a:t>
                      </a:r>
                      <a:r>
                        <a:rPr lang="ru-RU" sz="1400" dirty="0" err="1">
                          <a:effectLst/>
                        </a:rPr>
                        <a:t>Maven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147066"/>
                  </a:ext>
                </a:extLst>
              </a:tr>
              <a:tr h="29541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9D4B4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Gradle</a:t>
                      </a:r>
                      <a:endParaRPr lang="ru-RU" sz="1400" b="0" i="0" u="none" strike="noStrike" cap="none" dirty="0">
                        <a:solidFill>
                          <a:schemeClr val="bg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68580" marR="68580" marT="0" marB="0" anchor="ctr">
                    <a:solidFill>
                      <a:srgbClr val="B9D4B4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>
                          <a:solidFill>
                            <a:schemeClr val="bg1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Maven</a:t>
                      </a:r>
                      <a:endParaRPr lang="ru-RU" sz="1400" b="0" i="0" u="none" strike="noStrike" cap="none" dirty="0">
                        <a:solidFill>
                          <a:schemeClr val="bg1"/>
                        </a:solidFill>
                        <a:latin typeface="Roboto Mono"/>
                        <a:ea typeface="Roboto Mono"/>
                        <a:cs typeface="Roboto Mono"/>
                        <a:sym typeface="Arial"/>
                      </a:endParaRPr>
                    </a:p>
                  </a:txBody>
                  <a:tcPr marL="68580" marR="68580" marT="0" marB="0" anchor="ctr">
                    <a:solidFill>
                      <a:srgbClr val="B9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76696"/>
                  </a:ext>
                </a:extLst>
              </a:tr>
              <a:tr h="29541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Язык конфигурации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Groovy</a:t>
                      </a: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/</a:t>
                      </a:r>
                      <a:r>
                        <a:rPr lang="ru-RU" sz="1400" b="0" i="0" u="none" strike="noStrike" cap="none" dirty="0" err="1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Kotlin</a:t>
                      </a: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 DSL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XML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466232"/>
                  </a:ext>
                </a:extLst>
              </a:tr>
              <a:tr h="29541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Поддержка Android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Официальная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Частичная через плагин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58222"/>
                  </a:ext>
                </a:extLst>
              </a:tr>
              <a:tr h="71186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Скорость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Высокая (инкрементальная сборка)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Средняя (всегда полная сборка)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8099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Расширяемость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Очень высокая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Средняя (через плагины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62178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Прозрачность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Сложно отладить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Проще интерпретировать XML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874120"/>
                  </a:ext>
                </a:extLst>
              </a:tr>
              <a:tr h="29541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Кривая обучения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Средняя/высокая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Arial"/>
                        </a:rPr>
                        <a:t>Низкая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1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70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"/>
          <p:cNvSpPr txBox="1">
            <a:spLocks noGrp="1"/>
          </p:cNvSpPr>
          <p:nvPr>
            <p:ph type="title"/>
          </p:nvPr>
        </p:nvSpPr>
        <p:spPr>
          <a:xfrm>
            <a:off x="467833" y="593375"/>
            <a:ext cx="10452267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sz="6000" dirty="0" smtClean="0">
                <a:solidFill>
                  <a:schemeClr val="accent2"/>
                </a:solidFill>
              </a:rPr>
              <a:t> </a:t>
            </a:r>
            <a:r>
              <a:rPr lang="ru-RU" dirty="0"/>
              <a:t>Пример: </a:t>
            </a:r>
            <a:r>
              <a:rPr lang="ru-RU" sz="6000" dirty="0">
                <a:solidFill>
                  <a:schemeClr val="accent2"/>
                </a:solidFill>
              </a:rPr>
              <a:t>Простой </a:t>
            </a:r>
            <a:r>
              <a:rPr lang="en-US" sz="6000" dirty="0">
                <a:solidFill>
                  <a:schemeClr val="accent2"/>
                </a:solidFill>
              </a:rPr>
              <a:t>Java-</a:t>
            </a:r>
            <a:r>
              <a:rPr lang="ru-RU" sz="6000" dirty="0" smtClean="0">
                <a:solidFill>
                  <a:schemeClr val="accent2"/>
                </a:solidFill>
              </a:rPr>
              <a:t>проект</a:t>
            </a:r>
            <a:endParaRPr lang="ru-RU" sz="6000" dirty="0">
              <a:solidFill>
                <a:schemeClr val="accent2"/>
              </a:solidFill>
            </a:endParaRPr>
          </a:p>
        </p:txBody>
      </p:sp>
      <p:sp>
        <p:nvSpPr>
          <p:cNvPr id="571" name="Google Shape;571;p39"/>
          <p:cNvSpPr txBox="1">
            <a:spLocks noGrp="1"/>
          </p:cNvSpPr>
          <p:nvPr>
            <p:ph type="subTitle" idx="1"/>
          </p:nvPr>
        </p:nvSpPr>
        <p:spPr>
          <a:xfrm>
            <a:off x="8305195" y="2415775"/>
            <a:ext cx="353001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785" name="Google Shape;785;p39"/>
          <p:cNvSpPr txBox="1">
            <a:spLocks noGrp="1"/>
          </p:cNvSpPr>
          <p:nvPr>
            <p:ph type="body" idx="3"/>
          </p:nvPr>
        </p:nvSpPr>
        <p:spPr>
          <a:xfrm>
            <a:off x="8305195" y="2851775"/>
            <a:ext cx="3530009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ru-RU" b="1" dirty="0" smtClean="0"/>
              <a:t>Главные преимущества</a:t>
            </a:r>
            <a:r>
              <a:rPr lang="ru-RU" b="1" dirty="0"/>
              <a:t>:</a:t>
            </a:r>
            <a:r>
              <a:rPr lang="ru-RU" dirty="0"/>
              <a:t> Скорость (</a:t>
            </a:r>
            <a:r>
              <a:rPr lang="ru-RU" dirty="0" err="1"/>
              <a:t>инкрементальность</a:t>
            </a:r>
            <a:r>
              <a:rPr lang="ru-RU" dirty="0"/>
              <a:t>, кэш), Гибкость (DSL, плагины), </a:t>
            </a:r>
            <a:r>
              <a:rPr lang="ru-RU" dirty="0" err="1"/>
              <a:t>Мультипроектность</a:t>
            </a:r>
            <a:endParaRPr lang="ru-RU" b="1" dirty="0" smtClean="0"/>
          </a:p>
          <a:p>
            <a:pPr marL="285750" lvl="0" indent="-285750">
              <a:buFontTx/>
              <a:buChar char="-"/>
            </a:pPr>
            <a:r>
              <a:rPr lang="ru-RU" b="1" dirty="0"/>
              <a:t>Главные сложности:</a:t>
            </a:r>
            <a:r>
              <a:rPr lang="ru-RU" dirty="0"/>
              <a:t> Кривая обучения, Отладка </a:t>
            </a:r>
            <a:r>
              <a:rPr lang="ru-RU" dirty="0" smtClean="0"/>
              <a:t>скриптов</a:t>
            </a:r>
          </a:p>
          <a:p>
            <a:pPr marL="285750" indent="-285750">
              <a:buFontTx/>
              <a:buChar char="-"/>
            </a:pPr>
            <a:r>
              <a:rPr lang="ru-RU" b="1" dirty="0" smtClean="0"/>
              <a:t>Когда </a:t>
            </a:r>
            <a:r>
              <a:rPr lang="ru-RU" b="1" dirty="0"/>
              <a:t>выбирать </a:t>
            </a:r>
            <a:r>
              <a:rPr lang="ru-RU" b="1" dirty="0" err="1"/>
              <a:t>Gradle</a:t>
            </a:r>
            <a:r>
              <a:rPr lang="ru-RU" b="1" dirty="0"/>
              <a:t>?</a:t>
            </a:r>
            <a:r>
              <a:rPr lang="ru-RU" dirty="0"/>
              <a:t> Большие проекты, </a:t>
            </a:r>
            <a:r>
              <a:rPr lang="ru-RU" dirty="0" err="1"/>
              <a:t>Android</a:t>
            </a:r>
            <a:r>
              <a:rPr lang="ru-RU" dirty="0"/>
              <a:t>, нужна </a:t>
            </a:r>
            <a:r>
              <a:rPr lang="ru-RU" dirty="0" err="1"/>
              <a:t>кастомизация</a:t>
            </a:r>
            <a:r>
              <a:rPr lang="ru-RU" dirty="0"/>
              <a:t>, критична скорость сборки</a:t>
            </a:r>
            <a:r>
              <a:rPr lang="ru-RU" dirty="0" smtClean="0"/>
              <a:t>.</a:t>
            </a:r>
            <a:endParaRPr lang="ru-RU" b="1" dirty="0" smtClean="0"/>
          </a:p>
          <a:p>
            <a:pPr marL="285750" lvl="0" indent="-285750">
              <a:buFontTx/>
              <a:buChar char="-"/>
            </a:pPr>
            <a:r>
              <a:rPr lang="ru-RU" b="1" dirty="0" err="1" smtClean="0"/>
              <a:t>Gradle</a:t>
            </a:r>
            <a:r>
              <a:rPr lang="ru-RU" b="1" dirty="0" smtClean="0"/>
              <a:t> </a:t>
            </a:r>
            <a:r>
              <a:rPr lang="ru-RU" b="1" dirty="0"/>
              <a:t>- это:</a:t>
            </a:r>
            <a:r>
              <a:rPr lang="ru-RU" dirty="0"/>
              <a:t> Мощный, гибкий, производительный </a:t>
            </a:r>
            <a:r>
              <a:rPr lang="ru-RU" dirty="0" smtClean="0"/>
              <a:t>инструмент для</a:t>
            </a:r>
            <a:r>
              <a:rPr lang="ru-RU" dirty="0"/>
              <a:t> </a:t>
            </a:r>
            <a:r>
              <a:rPr lang="ru-RU" i="1" dirty="0"/>
              <a:t>сложных</a:t>
            </a:r>
            <a:r>
              <a:rPr lang="ru-RU" dirty="0"/>
              <a:t> и </a:t>
            </a:r>
            <a:r>
              <a:rPr lang="ru-RU" i="1" dirty="0" err="1" smtClean="0"/>
              <a:t>многомодульных</a:t>
            </a:r>
            <a:r>
              <a:rPr lang="ru-RU" dirty="0" err="1" smtClean="0"/>
              <a:t>проектов</a:t>
            </a:r>
            <a:r>
              <a:rPr lang="ru-RU" dirty="0"/>
              <a:t>. Стандарт для </a:t>
            </a:r>
            <a:r>
              <a:rPr lang="ru-RU" dirty="0" err="1"/>
              <a:t>Android</a:t>
            </a:r>
            <a:endParaRPr lang="en-U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33" y="1705610"/>
            <a:ext cx="3848135" cy="4412405"/>
          </a:xfrm>
          <a:prstGeom prst="rect">
            <a:avLst/>
          </a:prstGeom>
        </p:spPr>
      </p:pic>
      <p:sp>
        <p:nvSpPr>
          <p:cNvPr id="12" name="Google Shape;571;p39"/>
          <p:cNvSpPr txBox="1">
            <a:spLocks noGrp="1"/>
          </p:cNvSpPr>
          <p:nvPr>
            <p:ph type="subTitle" idx="1"/>
          </p:nvPr>
        </p:nvSpPr>
        <p:spPr>
          <a:xfrm>
            <a:off x="4976061" y="3636330"/>
            <a:ext cx="2449584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spcAft>
                <a:spcPts val="2100"/>
              </a:spcAft>
            </a:pPr>
            <a:r>
              <a:rPr lang="en-US" b="0" dirty="0"/>
              <a:t>./</a:t>
            </a:r>
            <a:r>
              <a:rPr lang="en-US" b="0" dirty="0" err="1"/>
              <a:t>gradlew</a:t>
            </a:r>
            <a:r>
              <a:rPr lang="en-US" b="0" dirty="0"/>
              <a:t> build</a:t>
            </a:r>
            <a:endParaRPr lang="ru-RU" dirty="0"/>
          </a:p>
        </p:txBody>
      </p:sp>
      <p:cxnSp>
        <p:nvCxnSpPr>
          <p:cNvPr id="6" name="Прямая со стрелкой 5"/>
          <p:cNvCxnSpPr>
            <a:stCxn id="2" idx="3"/>
            <a:endCxn id="12" idx="1"/>
          </p:cNvCxnSpPr>
          <p:nvPr/>
        </p:nvCxnSpPr>
        <p:spPr>
          <a:xfrm>
            <a:off x="4315968" y="3911813"/>
            <a:ext cx="660093" cy="279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endCxn id="12" idx="0"/>
          </p:cNvCxnSpPr>
          <p:nvPr/>
        </p:nvCxnSpPr>
        <p:spPr>
          <a:xfrm>
            <a:off x="4315968" y="2454652"/>
            <a:ext cx="1884885" cy="11816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endCxn id="12" idx="2"/>
          </p:cNvCxnSpPr>
          <p:nvPr/>
        </p:nvCxnSpPr>
        <p:spPr>
          <a:xfrm flipV="1">
            <a:off x="4361436" y="4243230"/>
            <a:ext cx="1839417" cy="10652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1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 sz="9000">
                <a:solidFill>
                  <a:schemeClr val="accent3"/>
                </a:solidFill>
              </a:rPr>
              <a:t>YOU!</a:t>
            </a:r>
            <a:endParaRPr sz="9000">
              <a:solidFill>
                <a:schemeClr val="accent3"/>
              </a:solidFill>
            </a:endParaRPr>
          </a:p>
        </p:txBody>
      </p:sp>
      <p:sp>
        <p:nvSpPr>
          <p:cNvPr id="854" name="Google Shape;854;p43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pic>
        <p:nvPicPr>
          <p:cNvPr id="5122" name="Picture 2" descr="Jobs at Gradle Inc.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112F39"/>
              </a:clrFrom>
              <a:clrTo>
                <a:srgbClr val="112F3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919" y="2898574"/>
            <a:ext cx="296227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569</Words>
  <Application>Microsoft Office PowerPoint</Application>
  <PresentationFormat>Широкоэкранный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Times New Roman</vt:lpstr>
      <vt:lpstr>Abril Fatface</vt:lpstr>
      <vt:lpstr>Calibri</vt:lpstr>
      <vt:lpstr>Roboto</vt:lpstr>
      <vt:lpstr>Roboto Mono</vt:lpstr>
      <vt:lpstr>Aldrich</vt:lpstr>
      <vt:lpstr>Arial</vt:lpstr>
      <vt:lpstr>SlidesMania</vt:lpstr>
      <vt:lpstr>Gradle  Архитектура, функционал и практика использования</vt:lpstr>
      <vt:lpstr>В чем суть ПРОБЛЕМЫ?</vt:lpstr>
      <vt:lpstr>Что такое Gradle?</vt:lpstr>
      <vt:lpstr>Сердце Gradle - Архитектура</vt:lpstr>
      <vt:lpstr>Как работает   Cборка?</vt:lpstr>
      <vt:lpstr>Языки описания Cборки</vt:lpstr>
      <vt:lpstr>Ключевые возможности</vt:lpstr>
      <vt:lpstr>Ключевые возможности</vt:lpstr>
      <vt:lpstr>06</vt:lpstr>
      <vt:lpstr>Сильные стороны Gradle</vt:lpstr>
      <vt:lpstr>Критика и сложности Gradle</vt:lpstr>
      <vt:lpstr>Gradle vs Maven</vt:lpstr>
      <vt:lpstr> Пример: Простой Java-проект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 ADD YOUR PRESENTATION TITLE.</dc:title>
  <cp:lastModifiedBy>Владислав Разуваев</cp:lastModifiedBy>
  <cp:revision>42</cp:revision>
  <dcterms:modified xsi:type="dcterms:W3CDTF">2025-06-06T12:06:01Z</dcterms:modified>
</cp:coreProperties>
</file>